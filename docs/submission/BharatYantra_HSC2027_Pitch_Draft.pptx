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4756dcbc4540da" /><Relationship Type="http://schemas.openxmlformats.org/officeDocument/2006/relationships/extended-properties" Target="/docProps/app.xml" Id="R9a16972b023345e4" /><Relationship Type="http://schemas.openxmlformats.org/officeDocument/2006/relationships/officeDocument" Target="/ppt/presentation.xml" Id="Rba7da0de53b443d7" /></Relationships>
</file>

<file path=ppt/presentation.xml><?xml version="1.0" encoding="utf-8"?>
<p:presentation xmlns:p="http://schemas.openxmlformats.org/presentationml/2006/main">
  <p:sldMasterIdLst>
    <p:sldMasterId xmlns:r="http://schemas.openxmlformats.org/officeDocument/2006/relationships" id="2147483648" r:id="R4014d0a5ba9c47ef"/>
  </p:sldMasterIdLst>
  <p:notesMasterIdLst>
    <p:notesMasterId xmlns:r="http://schemas.openxmlformats.org/officeDocument/2006/relationships" r:id="R6602c9380b4e4903"/>
  </p:notesMasterIdLst>
  <p:sldIdLst>
    <p:sldId xmlns:r="http://schemas.openxmlformats.org/officeDocument/2006/relationships" id="256" r:id="R1511547a20d3479d"/>
    <p:sldId xmlns:r="http://schemas.openxmlformats.org/officeDocument/2006/relationships" id="257" r:id="R5338395dded64c13"/>
    <p:sldId xmlns:r="http://schemas.openxmlformats.org/officeDocument/2006/relationships" id="258" r:id="R41ddcd10932947c1"/>
    <p:sldId xmlns:r="http://schemas.openxmlformats.org/officeDocument/2006/relationships" id="259" r:id="Rc4c6b2e8c0c84caa"/>
    <p:sldId xmlns:r="http://schemas.openxmlformats.org/officeDocument/2006/relationships" id="260" r:id="Ra245c1434bda4697"/>
    <p:sldId xmlns:r="http://schemas.openxmlformats.org/officeDocument/2006/relationships" id="261" r:id="R26c5581d38824751"/>
    <p:sldId xmlns:r="http://schemas.openxmlformats.org/officeDocument/2006/relationships" id="262" r:id="R5754df55010e43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979e0993ae4d8b" /><Relationship Type="http://schemas.openxmlformats.org/officeDocument/2006/relationships/slideMaster" Target="/ppt/slideMasters/slideMaster1.xml" Id="R4014d0a5ba9c47ef" /><Relationship Type="http://schemas.openxmlformats.org/officeDocument/2006/relationships/notesMaster" Target="/ppt/notesMasters/notesMaster1.xml" Id="R6602c9380b4e4903" /><Relationship Type="http://schemas.openxmlformats.org/officeDocument/2006/relationships/presProps" Target="/ppt/presProps.xml" Id="R40cc453e7a904aa8" /><Relationship Type="http://schemas.openxmlformats.org/officeDocument/2006/relationships/tableStyles" Target="/ppt/tableStyles.xml" Id="R75d40f96a585412c" /><Relationship Type="http://schemas.openxmlformats.org/officeDocument/2006/relationships/slide" Target="/ppt/slides/slide1.xml" Id="R1511547a20d3479d" /><Relationship Type="http://schemas.openxmlformats.org/officeDocument/2006/relationships/slide" Target="/ppt/slides/slide2.xml" Id="R5338395dded64c13" /><Relationship Type="http://schemas.openxmlformats.org/officeDocument/2006/relationships/slide" Target="/ppt/slides/slide3.xml" Id="R41ddcd10932947c1" /><Relationship Type="http://schemas.openxmlformats.org/officeDocument/2006/relationships/slide" Target="/ppt/slides/slide4.xml" Id="Rc4c6b2e8c0c84caa" /><Relationship Type="http://schemas.openxmlformats.org/officeDocument/2006/relationships/slide" Target="/ppt/slides/slide5.xml" Id="Ra245c1434bda4697" /><Relationship Type="http://schemas.openxmlformats.org/officeDocument/2006/relationships/slide" Target="/ppt/slides/slide6.xml" Id="R26c5581d38824751" /><Relationship Type="http://schemas.openxmlformats.org/officeDocument/2006/relationships/slide" Target="/ppt/slides/slide7.xml" Id="R5754df55010e43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53189b07274a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94ff4a3d1041ee" /><Relationship Type="http://schemas.openxmlformats.org/officeDocument/2006/relationships/notesMaster" Target="/ppt/notesMasters/notesMaster1.xml" Id="R37aeca8ebff346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acca63b78d4a09" /><Relationship Type="http://schemas.openxmlformats.org/officeDocument/2006/relationships/notesMaster" Target="/ppt/notesMasters/notesMaster1.xml" Id="Rb302d9e37a2e42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ed91bed4614cda" /><Relationship Type="http://schemas.openxmlformats.org/officeDocument/2006/relationships/notesMaster" Target="/ppt/notesMasters/notesMaster1.xml" Id="Rda7dd1130d0a46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c76d5cc4ae4a55" /><Relationship Type="http://schemas.openxmlformats.org/officeDocument/2006/relationships/notesMaster" Target="/ppt/notesMasters/notesMaster1.xml" Id="Re0d06bbd994748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66569dc303430f" /><Relationship Type="http://schemas.openxmlformats.org/officeDocument/2006/relationships/notesMaster" Target="/ppt/notesMasters/notesMaster1.xml" Id="R6de8b2e7482145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b1170832c5483c" /><Relationship Type="http://schemas.openxmlformats.org/officeDocument/2006/relationships/notesMaster" Target="/ppt/notesMasters/notesMaster1.xml" Id="R27ecd59bfa2b43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27c1b3fcae45de" /><Relationship Type="http://schemas.openxmlformats.org/officeDocument/2006/relationships/notesMaster" Target="/ppt/notesMasters/notesMaster1.xml" Id="R77e5a70faaf247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and the chosen test area. The live prototype shows the real local map source preview; there is no fabricated map illustration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project problem framing, not a finding from interviews or a claim that municipal teams endorsed the product. The official HSC page invites localized solutions to real social challenges. Source: https://mybharat.gov.in/pages/hack-for-social-cause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user journey rather than claiming measured outcomes. The interface maps selected results from rainfall screening, budget planning, accessibility scenarios, facility routes and the action tracker.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values came from a live API smoke check on 11 October 2026. Rainfall: POST /api/v1/flood/screening-scenario with 150 mm and 8 hours returned 1,444,631 m³ gross rainfall volume for a provisional 9.631 km² ward polygon; the response explicitly excludes runoff, infiltration, drainage capacity, tides, flood depth and affected roads/buildings. Facility access: a test point derived from the local ward polygon returned 27 mapped features and a 614 m nearest network distance to a community-mapped hospital. This does not establish operation or real travel time. Project sources/limits: data/provenance/dataset_registry.csv and docs/JUDGE_GUIDE.md.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compares user-entered quantities and rates; it does not optimize public investment or estimate measured benefits. Suggested pilot measures are proposals, not results. The official HSC page evaluates social-cause relevance, functionality, technical strength and impact potential; the project should show evidence rather than claim unmeasured outcomes. Source: https://mybharat.gov.in/pages/hack-for-social-cause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and test status are from the project repository and current verification run. No PostGIS deployment or independent flood-validation dataset is claimed. The production Vercel build completed on 11 October 2026 from GitHub commit 0f77625. The next code-only housekeeping commit 799f3b3 added a local Vercel ignore rule and does not change the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submission, enter actual member names and role assignments from the registered team and add a realistic AI-use percentage based on team records. The official MY Bharat page requires the deck to disclose the nature and estimated extent of AI use. Its full submission also requires Annexure 1, signed self-certifications, student IDs and requested government-ID details. Source: https://mybharat.gov.in/pages/hack-for-social-cause. Prototype guardrails are summarized in README.md and docs/JUDGE_GUIDE.md.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2bf3d05f8a4c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4739d5dce743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c4d78cc7de4f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cc5942348a45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8c30936cee43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ce190036a74d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7772E9-513D-4DCB-BEDF-695E6D6620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8D10C3-4DC5-41A8-936D-7B30853B541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E4A847-F288-4CB6-B6F3-9BB9AD974B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0E958A-3428-4D1E-B022-FAC3E841A9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386A15-A0CF-44E6-B52D-527E857F3FA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708CA97-A6DD-427C-A46F-EE271EEAB9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881533-E5F4-4E84-ADCE-F4848F1938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D7876D0-A36C-4B54-8835-23A6B2C0D3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A546F9-342D-4D5D-9885-7E57306D68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817C03-480C-416E-ADAB-F01CDCE6C1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92763a4ea24b80" /><Relationship Type="http://schemas.openxmlformats.org/officeDocument/2006/relationships/slideLayout" Target="/ppt/slideLayouts/slideLayout1.xml" Id="R60b744cdbf084a8d" /><Relationship Type="http://schemas.openxmlformats.org/officeDocument/2006/relationships/slideLayout" Target="/ppt/slideLayouts/slideLayout2.xml" Id="R97acc121ec2540fe" /><Relationship Type="http://schemas.openxmlformats.org/officeDocument/2006/relationships/slideLayout" Target="/ppt/slideLayouts/slideLayout3.xml" Id="R33d9291ffdc345c5" /><Relationship Type="http://schemas.openxmlformats.org/officeDocument/2006/relationships/slideLayout" Target="/ppt/slideLayouts/slideLayout4.xml" Id="R335ad8b861a84b81" /><Relationship Type="http://schemas.openxmlformats.org/officeDocument/2006/relationships/slideLayout" Target="/ppt/slideLayouts/slideLayout5.xml" Id="R4eeb392584b44446" /><Relationship Type="http://schemas.openxmlformats.org/officeDocument/2006/relationships/slideLayout" Target="/ppt/slideLayouts/slideLayout6.xml" Id="Rdb1bc5495da54e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b744cdbf084a8d"/>
    <p:sldLayoutId xmlns:r="http://schemas.openxmlformats.org/officeDocument/2006/relationships" id="2147483650" r:id="R97acc121ec2540fe"/>
    <p:sldLayoutId xmlns:r="http://schemas.openxmlformats.org/officeDocument/2006/relationships" id="2147483651" r:id="R33d9291ffdc345c5"/>
    <p:sldLayoutId xmlns:r="http://schemas.openxmlformats.org/officeDocument/2006/relationships" id="2147483652" r:id="R335ad8b861a84b81"/>
    <p:sldLayoutId xmlns:r="http://schemas.openxmlformats.org/officeDocument/2006/relationships" id="2147483653" r:id="R4eeb392584b44446"/>
    <p:sldLayoutId xmlns:r="http://schemas.openxmlformats.org/officeDocument/2006/relationships" id="2147483654" r:id="Rdb1bc5495da54e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57d82f95fd411c" /><Relationship Type="http://schemas.openxmlformats.org/officeDocument/2006/relationships/notesSlide" Target="/ppt/notesSlides/notesSlide1.xml" Id="R78610c065acd49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40f3ee210b243c0" /><Relationship Type="http://schemas.openxmlformats.org/officeDocument/2006/relationships/notesSlide" Target="/ppt/notesSlides/notesSlide2.xml" Id="Ra789e40f58e945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38b32ed9864cb4" /><Relationship Type="http://schemas.openxmlformats.org/officeDocument/2006/relationships/notesSlide" Target="/ppt/notesSlides/notesSlide3.xml" Id="R8569b43e684840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d4e6cf21814bae" /><Relationship Type="http://schemas.openxmlformats.org/officeDocument/2006/relationships/notesSlide" Target="/ppt/notesSlides/notesSlide4.xml" Id="R738245a81d7248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165143ec03740fd" /><Relationship Type="http://schemas.openxmlformats.org/officeDocument/2006/relationships/notesSlide" Target="/ppt/notesSlides/notesSlide5.xml" Id="R795fa88fb87943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f75d25c32f49b4" /><Relationship Type="http://schemas.openxmlformats.org/officeDocument/2006/relationships/notesSlide" Target="/ppt/notesSlides/notesSlide6.xml" Id="R5740a24a3f9d49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14213d329b04930" /><Relationship Type="http://schemas.openxmlformats.org/officeDocument/2006/relationships/notesSlide" Target="/ppt/notesSlides/notesSlide7.xml" Id="R0f52b1e9c15f4d98" /></Relationships>
</file>

<file path=ppt/slides/slide1.xml><?xml version="1.0" encoding="utf-8"?>
<p:sld xmlns:p="http://schemas.openxmlformats.org/presentationml/2006/main">
  <p:cSld>
    <p:bg>
      <p:bgPr>
        <a:solidFill xmlns:a="http://schemas.openxmlformats.org/drawingml/2006/main">
          <a:srgbClr val="101B1F"/>
        </a:solidFill>
      </p:bgPr>
    </p:bg>
    <p:spTree>
      <p:nvGrpSpPr>
        <p:cNvPr id="1" name=""/>
        <p:cNvGrpSpPr/>
        <p:nvPr/>
      </p:nvGrpSpPr>
      <p:grpSpPr>
        <a:xfrm xmlns:a="http://schemas.openxmlformats.org/drawingml/2006/main"/>
      </p:grpSpPr>
      <p:sp>
        <p:nvSpPr>
          <p:cNvPr id="11" name="cover-brand">
            <a:extLst xmlns:a="http://schemas.openxmlformats.org/drawingml/2006/main">
              <a:ext uri="{FF2B5EF4-FFF2-40B4-BE49-F238E27FC236}">
                <a16:creationId xmlns:a16="http://schemas.microsoft.com/office/drawing/2014/main" id="{7E01E237-1CC3-4D22-9770-5110008762B9}"/>
              </a:ext>
            </a:extLst>
          </p:cNvPr>
          <p:cNvSpPr>
            <a:spLocks xmlns:a="http://schemas.openxmlformats.org/drawingml/2006/main" noGrp="1"/>
          </p:cNvSpPr>
          <p:nvPr/>
        </p:nvSpPr>
        <p:spPr>
          <a:xfrm xmlns:a="http://schemas.openxmlformats.org/drawingml/2006/main">
            <a:off x="666750" y="6096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E2B85D"/>
                </a:solidFill>
                <a:latin typeface="Arial"/>
                <a:ea typeface="Arial"/>
                <a:cs typeface="Arial"/>
              </a:defRPr>
            </a:defPPr>
          </a:lstStyle>
          <a:p xmlns:a="http://schemas.openxmlformats.org/drawingml/2006/main">
            <a:pPr algn="l">
              <a:defRPr sz="1275" b="1">
                <a:solidFill>
                  <a:srgbClr val="E2B85D"/>
                </a:solidFill>
                <a:latin typeface="Arial"/>
                <a:ea typeface="Arial"/>
                <a:cs typeface="Arial"/>
              </a:defRPr>
            </a:pPr>
            <a:r>
              <a:rPr sz="1275" b="1">
                <a:solidFill>
                  <a:srgbClr val="E2B85D"/>
                </a:solidFill>
                <a:latin typeface="Arial"/>
                <a:ea typeface="Arial"/>
                <a:cs typeface="Arial"/>
              </a:rPr>
              <a:t>BY  /  BHARAT YANTRA</a:t>
            </a:r>
          </a:p>
        </p:txBody>
      </p:sp>
      <p:sp>
        <p:nvSpPr>
          <p:cNvPr id="2" name="cover-title">
            <a:extLst xmlns:a="http://schemas.openxmlformats.org/drawingml/2006/main">
              <a:ext uri="{FF2B5EF4-FFF2-40B4-BE49-F238E27FC236}">
                <a16:creationId xmlns:a16="http://schemas.microsoft.com/office/drawing/2014/main" id="{3DF5E318-CA81-4928-8EE9-86FC28E3ECA7}"/>
              </a:ext>
            </a:extLst>
          </p:cNvPr>
          <p:cNvSpPr>
            <a:spLocks xmlns:a="http://schemas.openxmlformats.org/drawingml/2006/main" noGrp="1"/>
          </p:cNvSpPr>
          <p:nvPr/>
        </p:nvSpPr>
        <p:spPr>
          <a:xfrm xmlns:a="http://schemas.openxmlformats.org/drawingml/2006/main">
            <a:off x="666750" y="1524000"/>
            <a:ext cx="5334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545"/>
          </a:bodyPr>
          <a:lstStyle xmlns:a="http://schemas.openxmlformats.org/drawingml/2006/main">
            <a:defPPr algn="l">
              <a:defRPr sz="6150" b="1">
                <a:solidFill>
                  <a:srgbClr val="F3F0E6"/>
                </a:solidFill>
                <a:latin typeface="Arial"/>
                <a:ea typeface="Arial"/>
                <a:cs typeface="Arial"/>
              </a:defRPr>
            </a:defPPr>
          </a:lstStyle>
          <a:p xmlns:a="http://schemas.openxmlformats.org/drawingml/2006/main">
            <a:pPr algn="l">
              <a:defRPr sz="6150" b="1">
                <a:solidFill>
                  <a:srgbClr val="F3F0E6"/>
                </a:solidFill>
                <a:latin typeface="Arial"/>
                <a:ea typeface="Arial"/>
                <a:cs typeface="Arial"/>
              </a:defRPr>
            </a:pPr>
            <a:r>
              <a:rPr sz="6150" b="1">
                <a:solidFill>
                  <a:srgbClr val="F3F0E6"/>
                </a:solidFill>
                <a:latin typeface="Arial"/>
                <a:ea typeface="Arial"/>
                <a:cs typeface="Arial"/>
              </a:rPr>
              <a:t>Bharat</a:t>
            </a:r>
          </a:p>
          <a:p xmlns:a="http://schemas.openxmlformats.org/drawingml/2006/main">
            <a:pPr algn="l">
              <a:defRPr sz="6150" b="1">
                <a:solidFill>
                  <a:srgbClr val="F3F0E6"/>
                </a:solidFill>
                <a:latin typeface="Arial"/>
                <a:ea typeface="Arial"/>
                <a:cs typeface="Arial"/>
              </a:defRPr>
            </a:pPr>
            <a:r>
              <a:rPr sz="6150" b="1">
                <a:solidFill>
                  <a:srgbClr val="F3F0E6"/>
                </a:solidFill>
                <a:latin typeface="Arial"/>
                <a:ea typeface="Arial"/>
                <a:cs typeface="Arial"/>
              </a:rPr>
              <a:t>Yantra</a:t>
            </a:r>
          </a:p>
        </p:txBody>
      </p:sp>
      <p:sp>
        <p:nvSpPr>
          <p:cNvPr id="3" name="cover-tagline">
            <a:extLst xmlns:a="http://schemas.openxmlformats.org/drawingml/2006/main">
              <a:ext uri="{FF2B5EF4-FFF2-40B4-BE49-F238E27FC236}">
                <a16:creationId xmlns:a16="http://schemas.microsoft.com/office/drawing/2014/main" id="{72D8067C-7BD5-4330-8B85-30978C5D0F08}"/>
              </a:ext>
            </a:extLst>
          </p:cNvPr>
          <p:cNvSpPr>
            <a:spLocks xmlns:a="http://schemas.openxmlformats.org/drawingml/2006/main" noGrp="1"/>
          </p:cNvSpPr>
          <p:nvPr/>
        </p:nvSpPr>
        <p:spPr>
          <a:xfrm xmlns:a="http://schemas.openxmlformats.org/drawingml/2006/main">
            <a:off x="685800" y="363855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09"/>
          </a:bodyPr>
          <a:lstStyle xmlns:a="http://schemas.openxmlformats.org/drawingml/2006/main">
            <a:defPPr algn="l">
              <a:defRPr sz="2025" b="1">
                <a:solidFill>
                  <a:srgbClr val="87B49C"/>
                </a:solidFill>
                <a:latin typeface="Arial"/>
                <a:ea typeface="Arial"/>
                <a:cs typeface="Arial"/>
              </a:defRPr>
            </a:defPPr>
          </a:lstStyle>
          <a:p xmlns:a="http://schemas.openxmlformats.org/drawingml/2006/main">
            <a:pPr algn="l">
              <a:defRPr sz="2025" b="1">
                <a:solidFill>
                  <a:srgbClr val="87B49C"/>
                </a:solidFill>
                <a:latin typeface="Arial"/>
                <a:ea typeface="Arial"/>
                <a:cs typeface="Arial"/>
              </a:defRPr>
            </a:pPr>
            <a:r>
              <a:rPr sz="2025" b="1">
                <a:solidFill>
                  <a:srgbClr val="87B49C"/>
                </a:solidFill>
                <a:latin typeface="Arial"/>
                <a:ea typeface="Arial"/>
                <a:cs typeface="Arial"/>
              </a:rPr>
              <a:t>An indigenous engineering engine for India</a:t>
            </a:r>
          </a:p>
        </p:txBody>
      </p:sp>
      <p:sp>
        <p:nvSpPr>
          <p:cNvPr id="4" name="cover-subtitle">
            <a:extLst xmlns:a="http://schemas.openxmlformats.org/drawingml/2006/main">
              <a:ext uri="{FF2B5EF4-FFF2-40B4-BE49-F238E27FC236}">
                <a16:creationId xmlns:a16="http://schemas.microsoft.com/office/drawing/2014/main" id="{1E6F40B0-9B6E-4B59-9D4F-0B5F4048625D}"/>
              </a:ext>
            </a:extLst>
          </p:cNvPr>
          <p:cNvSpPr>
            <a:spLocks xmlns:a="http://schemas.openxmlformats.org/drawingml/2006/main" noGrp="1"/>
          </p:cNvSpPr>
          <p:nvPr/>
        </p:nvSpPr>
        <p:spPr>
          <a:xfrm xmlns:a="http://schemas.openxmlformats.org/drawingml/2006/main">
            <a:off x="685800" y="4324350"/>
            <a:ext cx="5048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A7B2AD"/>
                </a:solidFill>
                <a:latin typeface="Arial"/>
                <a:ea typeface="Arial"/>
                <a:cs typeface="Arial"/>
              </a:defRPr>
            </a:defPPr>
          </a:lstStyle>
          <a:p xmlns:a="http://schemas.openxmlformats.org/drawingml/2006/main">
            <a:pPr algn="l">
              <a:defRPr sz="1875" b="0">
                <a:solidFill>
                  <a:srgbClr val="A7B2AD"/>
                </a:solidFill>
                <a:latin typeface="Arial"/>
                <a:ea typeface="Arial"/>
                <a:cs typeface="Arial"/>
              </a:defRPr>
            </a:pPr>
            <a:r>
              <a:rPr sz="1875" b="0">
                <a:solidFill>
                  <a:srgbClr val="A7B2AD"/>
                </a:solidFill>
                <a:latin typeface="Arial"/>
                <a:ea typeface="Arial"/>
                <a:cs typeface="Arial"/>
              </a:rPr>
              <a:t>A map-based decision laboratory for Mumbai ward planning</a:t>
            </a:r>
          </a:p>
        </p:txBody>
      </p:sp>
      <p:sp>
        <p:nvSpPr>
          <p:cNvPr id="5" name="cover-location">
            <a:extLst xmlns:a="http://schemas.openxmlformats.org/drawingml/2006/main">
              <a:ext uri="{FF2B5EF4-FFF2-40B4-BE49-F238E27FC236}">
                <a16:creationId xmlns:a16="http://schemas.microsoft.com/office/drawing/2014/main" id="{3434CECA-B36E-432C-B458-033CFAC2FA08}"/>
              </a:ext>
            </a:extLst>
          </p:cNvPr>
          <p:cNvSpPr>
            <a:spLocks xmlns:a="http://schemas.openxmlformats.org/drawingml/2006/main" noGrp="1"/>
          </p:cNvSpPr>
          <p:nvPr/>
        </p:nvSpPr>
        <p:spPr>
          <a:xfrm xmlns:a="http://schemas.openxmlformats.org/drawingml/2006/main">
            <a:off x="685800" y="57912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2B85D"/>
                </a:solidFill>
                <a:latin typeface="Arial"/>
                <a:ea typeface="Arial"/>
                <a:cs typeface="Arial"/>
              </a:defRPr>
            </a:defPPr>
          </a:lstStyle>
          <a:p xmlns:a="http://schemas.openxmlformats.org/drawingml/2006/main">
            <a:pPr algn="l">
              <a:defRPr sz="1125" b="1">
                <a:solidFill>
                  <a:srgbClr val="E2B85D"/>
                </a:solidFill>
                <a:latin typeface="Arial"/>
                <a:ea typeface="Arial"/>
                <a:cs typeface="Arial"/>
              </a:defRPr>
            </a:pPr>
            <a:r>
              <a:rPr sz="1125" b="1">
                <a:solidFill>
                  <a:srgbClr val="E2B85D"/>
                </a:solidFill>
                <a:latin typeface="Arial"/>
                <a:ea typeface="Arial"/>
                <a:cs typeface="Arial"/>
              </a:rPr>
              <a:t>PROVISIONAL TESTBED  ·  F/S WARD, MUMBAI</a:t>
            </a:r>
          </a:p>
        </p:txBody>
      </p:sp>
      <p:sp>
        <p:nvSpPr>
          <p:cNvPr id="6" name="cover-city">
            <a:extLst xmlns:a="http://schemas.openxmlformats.org/drawingml/2006/main">
              <a:ext uri="{FF2B5EF4-FFF2-40B4-BE49-F238E27FC236}">
                <a16:creationId xmlns:a16="http://schemas.microsoft.com/office/drawing/2014/main" id="{1A17A0F5-55AB-4610-A2AB-A536B26CF1BC}"/>
              </a:ext>
            </a:extLst>
          </p:cNvPr>
          <p:cNvSpPr>
            <a:spLocks xmlns:a="http://schemas.openxmlformats.org/drawingml/2006/main" noGrp="1"/>
          </p:cNvSpPr>
          <p:nvPr/>
        </p:nvSpPr>
        <p:spPr>
          <a:xfrm xmlns:a="http://schemas.openxmlformats.org/drawingml/2006/main">
            <a:off x="6762750" y="2047875"/>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E2B85D"/>
                </a:solidFill>
                <a:latin typeface="Arial"/>
                <a:ea typeface="Arial"/>
                <a:cs typeface="Arial"/>
              </a:defRPr>
            </a:defPPr>
          </a:lstStyle>
          <a:p xmlns:a="http://schemas.openxmlformats.org/drawingml/2006/main">
            <a:pPr algn="l">
              <a:defRPr sz="1425" b="1">
                <a:solidFill>
                  <a:srgbClr val="E2B85D"/>
                </a:solidFill>
                <a:latin typeface="Arial"/>
                <a:ea typeface="Arial"/>
                <a:cs typeface="Arial"/>
              </a:defRPr>
            </a:pPr>
            <a:r>
              <a:rPr sz="1425" b="1">
                <a:solidFill>
                  <a:srgbClr val="E2B85D"/>
                </a:solidFill>
                <a:latin typeface="Arial"/>
                <a:ea typeface="Arial"/>
                <a:cs typeface="Arial"/>
              </a:rPr>
              <a:t>MUMBAI</a:t>
            </a:r>
          </a:p>
        </p:txBody>
      </p:sp>
      <p:sp>
        <p:nvSpPr>
          <p:cNvPr id="7" name="cover-ward">
            <a:extLst xmlns:a="http://schemas.openxmlformats.org/drawingml/2006/main">
              <a:ext uri="{FF2B5EF4-FFF2-40B4-BE49-F238E27FC236}">
                <a16:creationId xmlns:a16="http://schemas.microsoft.com/office/drawing/2014/main" id="{59EFFDC0-EF24-48A5-8457-0619388F38B5}"/>
              </a:ext>
            </a:extLst>
          </p:cNvPr>
          <p:cNvSpPr>
            <a:spLocks xmlns:a="http://schemas.openxmlformats.org/drawingml/2006/main" noGrp="1"/>
          </p:cNvSpPr>
          <p:nvPr/>
        </p:nvSpPr>
        <p:spPr>
          <a:xfrm xmlns:a="http://schemas.openxmlformats.org/drawingml/2006/main">
            <a:off x="6667500" y="2571750"/>
            <a:ext cx="48577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defPPr algn="l">
              <a:defRPr sz="9900" b="1">
                <a:solidFill>
                  <a:srgbClr val="F3F0E6"/>
                </a:solidFill>
                <a:latin typeface="Arial"/>
                <a:ea typeface="Arial"/>
                <a:cs typeface="Arial"/>
              </a:defRPr>
            </a:defPPr>
          </a:lstStyle>
          <a:p xmlns:a="http://schemas.openxmlformats.org/drawingml/2006/main">
            <a:pPr algn="l">
              <a:defRPr sz="9900" b="1">
                <a:solidFill>
                  <a:srgbClr val="F3F0E6"/>
                </a:solidFill>
                <a:latin typeface="Arial"/>
                <a:ea typeface="Arial"/>
                <a:cs typeface="Arial"/>
              </a:defRPr>
            </a:pPr>
            <a:r>
              <a:rPr sz="9900" b="1">
                <a:solidFill>
                  <a:srgbClr val="F3F0E6"/>
                </a:solidFill>
                <a:latin typeface="Arial"/>
                <a:ea typeface="Arial"/>
                <a:cs typeface="Arial"/>
              </a:rPr>
              <a:t>F/S</a:t>
            </a:r>
          </a:p>
        </p:txBody>
      </p:sp>
      <p:sp>
        <p:nvSpPr>
          <p:cNvPr id="8" name="cover-accent-rule">
            <a:extLst xmlns:a="http://schemas.openxmlformats.org/drawingml/2006/main">
              <a:ext uri="{FF2B5EF4-FFF2-40B4-BE49-F238E27FC236}">
                <a16:creationId xmlns:a16="http://schemas.microsoft.com/office/drawing/2014/main" id="{B356EA7F-529E-4C32-8D90-6A81E4EA2525}"/>
              </a:ext>
            </a:extLst>
          </p:cNvPr>
          <p:cNvSpPr>
            <a:spLocks xmlns:a="http://schemas.openxmlformats.org/drawingml/2006/main" noGrp="1"/>
          </p:cNvSpPr>
          <p:nvPr/>
        </p:nvSpPr>
        <p:spPr>
          <a:xfrm xmlns:a="http://schemas.openxmlformats.org/drawingml/2006/main">
            <a:off x="6762750" y="4438650"/>
            <a:ext cx="2857500" cy="28575"/>
          </a:xfrm>
          <a:prstGeom xmlns:a="http://schemas.openxmlformats.org/drawingml/2006/main" prst="rect">
            <a:avLst/>
          </a:prstGeom>
          <a:solidFill xmlns:a="http://schemas.openxmlformats.org/drawingml/2006/main">
            <a:srgbClr val="87B49C"/>
          </a:solidFill>
          <a:ln xmlns:a="http://schemas.openxmlformats.org/drawingml/2006/main" w="0">
            <a:noFill/>
            <a:prstDash val="solid"/>
          </a:ln>
        </p:spPr>
      </p:sp>
      <p:sp>
        <p:nvSpPr>
          <p:cNvPr id="9" name="cover-map-label">
            <a:extLst xmlns:a="http://schemas.openxmlformats.org/drawingml/2006/main">
              <a:ext uri="{FF2B5EF4-FFF2-40B4-BE49-F238E27FC236}">
                <a16:creationId xmlns:a16="http://schemas.microsoft.com/office/drawing/2014/main" id="{27D1B088-0FAD-40DB-B251-DB263A5A9A86}"/>
              </a:ext>
            </a:extLst>
          </p:cNvPr>
          <p:cNvSpPr>
            <a:spLocks xmlns:a="http://schemas.openxmlformats.org/drawingml/2006/main" noGrp="1"/>
          </p:cNvSpPr>
          <p:nvPr/>
        </p:nvSpPr>
        <p:spPr>
          <a:xfrm xmlns:a="http://schemas.openxmlformats.org/drawingml/2006/main">
            <a:off x="6762750" y="47053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87B49C"/>
                </a:solidFill>
                <a:latin typeface="Arial"/>
                <a:ea typeface="Arial"/>
                <a:cs typeface="Arial"/>
              </a:defRPr>
            </a:defPPr>
          </a:lstStyle>
          <a:p xmlns:a="http://schemas.openxmlformats.org/drawingml/2006/main">
            <a:pPr algn="l">
              <a:defRPr sz="1650" b="1">
                <a:solidFill>
                  <a:srgbClr val="87B49C"/>
                </a:solidFill>
                <a:latin typeface="Arial"/>
                <a:ea typeface="Arial"/>
                <a:cs typeface="Arial"/>
              </a:defRPr>
            </a:pPr>
            <a:r>
              <a:rPr sz="1650" b="1">
                <a:solidFill>
                  <a:srgbClr val="87B49C"/>
                </a:solidFill>
                <a:latin typeface="Arial"/>
                <a:ea typeface="Arial"/>
                <a:cs typeface="Arial"/>
              </a:rPr>
              <a:t>ONE WARD  ·  MANY CHOICES</a:t>
            </a:r>
          </a:p>
        </p:txBody>
      </p:sp>
      <p:sp>
        <p:nvSpPr>
          <p:cNvPr id="10" name="cover-map-description">
            <a:extLst xmlns:a="http://schemas.openxmlformats.org/drawingml/2006/main">
              <a:ext uri="{FF2B5EF4-FFF2-40B4-BE49-F238E27FC236}">
                <a16:creationId xmlns:a16="http://schemas.microsoft.com/office/drawing/2014/main" id="{002069C4-D068-4E7D-8F41-FDE9C3761127}"/>
              </a:ext>
            </a:extLst>
          </p:cNvPr>
          <p:cNvSpPr>
            <a:spLocks xmlns:a="http://schemas.openxmlformats.org/drawingml/2006/main" noGrp="1"/>
          </p:cNvSpPr>
          <p:nvPr/>
        </p:nvSpPr>
        <p:spPr>
          <a:xfrm xmlns:a="http://schemas.openxmlformats.org/drawingml/2006/main">
            <a:off x="6762750" y="5162550"/>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7B2AD"/>
                </a:solidFill>
                <a:latin typeface="Arial"/>
                <a:ea typeface="Arial"/>
                <a:cs typeface="Arial"/>
              </a:defRPr>
            </a:defPPr>
          </a:lstStyle>
          <a:p xmlns:a="http://schemas.openxmlformats.org/drawingml/2006/main">
            <a:pPr algn="l">
              <a:defRPr sz="1575" b="0">
                <a:solidFill>
                  <a:srgbClr val="A7B2AD"/>
                </a:solidFill>
                <a:latin typeface="Arial"/>
                <a:ea typeface="Arial"/>
                <a:cs typeface="Arial"/>
              </a:defRPr>
            </a:pPr>
            <a:r>
              <a:rPr sz="1575" b="0">
                <a:solidFill>
                  <a:srgbClr val="A7B2AD"/>
                </a:solidFill>
                <a:latin typeface="Arial"/>
                <a:ea typeface="Arial"/>
                <a:cs typeface="Arial"/>
              </a:rPr>
              <a:t>Explore a scenario. Compare options.</a:t>
            </a:r>
          </a:p>
          <a:p xmlns:a="http://schemas.openxmlformats.org/drawingml/2006/main">
            <a:pPr algn="l">
              <a:defRPr sz="1575" b="0">
                <a:solidFill>
                  <a:srgbClr val="A7B2AD"/>
                </a:solidFill>
                <a:latin typeface="Arial"/>
                <a:ea typeface="Arial"/>
                <a:cs typeface="Arial"/>
              </a:defRPr>
            </a:pPr>
            <a:r>
              <a:rPr sz="1575" b="0">
                <a:solidFill>
                  <a:srgbClr val="A7B2AD"/>
                </a:solidFill>
                <a:latin typeface="Arial"/>
                <a:ea typeface="Arial"/>
                <a:cs typeface="Arial"/>
              </a:rPr>
              <a:t>See the review locations on the map.</a:t>
            </a:r>
          </a:p>
        </p:txBody>
      </p:sp>
    </p:spTree>
    <p:extLst>
      <p:ext uri="{BB962C8B-B14F-4D97-AF65-F5344CB8AC3E}">
        <p14:creationId xmlns:p14="http://schemas.microsoft.com/office/powerpoint/2010/main" val="317858041"/>
      </p:ext>
    </p:extLst>
  </p:cSld>
</p:sld>
</file>

<file path=ppt/slides/slide2.xml><?xml version="1.0" encoding="utf-8"?>
<p:sld xmlns:p="http://schemas.openxmlformats.org/presentationml/2006/main">
  <p:cSld>
    <p:bg>
      <p:bgPr>
        <a:solidFill xmlns:a="http://schemas.openxmlformats.org/drawingml/2006/main">
          <a:srgbClr val="101B1F"/>
        </a:solidFill>
      </p:bgPr>
    </p:bg>
    <p:spTree>
      <p:nvGrpSpPr>
        <p:cNvPr id="1" name=""/>
        <p:cNvGrpSpPr/>
        <p:nvPr/>
      </p:nvGrpSpPr>
      <p:grpSpPr>
        <a:xfrm xmlns:a="http://schemas.openxmlformats.org/drawingml/2006/main"/>
      </p:grpSpPr>
      <p:sp>
        <p:nvSpPr>
          <p:cNvPr id="13" name="kicker-2">
            <a:extLst xmlns:a="http://schemas.openxmlformats.org/drawingml/2006/main">
              <a:ext uri="{FF2B5EF4-FFF2-40B4-BE49-F238E27FC236}">
                <a16:creationId xmlns:a16="http://schemas.microsoft.com/office/drawing/2014/main" id="{BBFEC239-8C8D-4C67-99C6-E58A73BC1ADB}"/>
              </a:ext>
            </a:extLst>
          </p:cNvPr>
          <p:cNvSpPr>
            <a:spLocks xmlns:a="http://schemas.openxmlformats.org/drawingml/2006/main" noGrp="1"/>
          </p:cNvSpPr>
          <p:nvPr/>
        </p:nvSpPr>
        <p:spPr>
          <a:xfrm xmlns:a="http://schemas.openxmlformats.org/drawingml/2006/main">
            <a:off x="609600" y="400050"/>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2B85D"/>
                </a:solidFill>
                <a:latin typeface="Arial"/>
                <a:ea typeface="Arial"/>
                <a:cs typeface="Arial"/>
              </a:defRPr>
            </a:defPPr>
          </a:lstStyle>
          <a:p xmlns:a="http://schemas.openxmlformats.org/drawingml/2006/main">
            <a:pPr algn="l">
              <a:defRPr sz="1125" b="1">
                <a:solidFill>
                  <a:srgbClr val="E2B85D"/>
                </a:solidFill>
                <a:latin typeface="Arial"/>
                <a:ea typeface="Arial"/>
                <a:cs typeface="Arial"/>
              </a:defRPr>
            </a:pPr>
            <a:r>
              <a:rPr sz="1125" b="1">
                <a:solidFill>
                  <a:srgbClr val="E2B85D"/>
                </a:solidFill>
                <a:latin typeface="Arial"/>
                <a:ea typeface="Arial"/>
                <a:cs typeface="Arial"/>
              </a:rPr>
              <a:t>PROBLEM AND INTENDED USERS</a:t>
            </a:r>
          </a:p>
        </p:txBody>
      </p:sp>
      <p:sp>
        <p:nvSpPr>
          <p:cNvPr id="2" name="title-2">
            <a:extLst xmlns:a="http://schemas.openxmlformats.org/drawingml/2006/main">
              <a:ext uri="{FF2B5EF4-FFF2-40B4-BE49-F238E27FC236}">
                <a16:creationId xmlns:a16="http://schemas.microsoft.com/office/drawing/2014/main" id="{838572B5-9B2C-4560-9593-41C96020C5C6}"/>
              </a:ext>
            </a:extLst>
          </p:cNvPr>
          <p:cNvSpPr>
            <a:spLocks xmlns:a="http://schemas.openxmlformats.org/drawingml/2006/main" noGrp="1"/>
          </p:cNvSpPr>
          <p:nvPr/>
        </p:nvSpPr>
        <p:spPr>
          <a:xfrm xmlns:a="http://schemas.openxmlformats.org/drawingml/2006/main">
            <a:off x="609600" y="7429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F3F0E6"/>
                </a:solidFill>
                <a:latin typeface="Arial"/>
                <a:ea typeface="Arial"/>
                <a:cs typeface="Arial"/>
              </a:defRPr>
            </a:defPPr>
          </a:lstStyle>
          <a:p xmlns:a="http://schemas.openxmlformats.org/drawingml/2006/main">
            <a:pPr algn="l">
              <a:defRPr sz="4050" b="1">
                <a:solidFill>
                  <a:srgbClr val="F3F0E6"/>
                </a:solidFill>
                <a:latin typeface="Arial"/>
                <a:ea typeface="Arial"/>
                <a:cs typeface="Arial"/>
              </a:defRPr>
            </a:pPr>
            <a:r>
              <a:rPr sz="4050" b="1">
                <a:solidFill>
                  <a:srgbClr val="F3F0E6"/>
                </a:solidFill>
                <a:latin typeface="Arial"/>
                <a:ea typeface="Arial"/>
                <a:cs typeface="Arial"/>
              </a:rPr>
              <a:t>Ward decisions need a shared map</a:t>
            </a:r>
          </a:p>
        </p:txBody>
      </p:sp>
      <p:sp>
        <p:nvSpPr>
          <p:cNvPr id="3" name="footer-rule-2">
            <a:extLst xmlns:a="http://schemas.openxmlformats.org/drawingml/2006/main">
              <a:ext uri="{FF2B5EF4-FFF2-40B4-BE49-F238E27FC236}">
                <a16:creationId xmlns:a16="http://schemas.microsoft.com/office/drawing/2014/main" id="{594B2AF0-4592-4BBE-B20F-AA4D57CA7DA6}"/>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4" name="footer-name-2">
            <a:extLst xmlns:a="http://schemas.openxmlformats.org/drawingml/2006/main">
              <a:ext uri="{FF2B5EF4-FFF2-40B4-BE49-F238E27FC236}">
                <a16:creationId xmlns:a16="http://schemas.microsoft.com/office/drawing/2014/main" id="{B80BD94D-1608-4AF6-840A-9BEFB146BB0B}"/>
              </a:ext>
            </a:extLst>
          </p:cNvPr>
          <p:cNvSpPr>
            <a:spLocks xmlns:a="http://schemas.openxmlformats.org/drawingml/2006/main" noGrp="1"/>
          </p:cNvSpPr>
          <p:nvPr/>
        </p:nvSpPr>
        <p:spPr>
          <a:xfrm xmlns:a="http://schemas.openxmlformats.org/drawingml/2006/main">
            <a:off x="609600" y="6496050"/>
            <a:ext cx="628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A7B2AD"/>
                </a:solidFill>
                <a:latin typeface="Arial"/>
                <a:ea typeface="Arial"/>
                <a:cs typeface="Arial"/>
              </a:defRPr>
            </a:defPPr>
          </a:lstStyle>
          <a:p xmlns:a="http://schemas.openxmlformats.org/drawingml/2006/main">
            <a:pPr algn="l">
              <a:defRPr sz="975" b="1">
                <a:solidFill>
                  <a:srgbClr val="A7B2AD"/>
                </a:solidFill>
                <a:latin typeface="Arial"/>
                <a:ea typeface="Arial"/>
                <a:cs typeface="Arial"/>
              </a:defRPr>
            </a:pPr>
            <a:r>
              <a:rPr sz="975" b="1">
                <a:solidFill>
                  <a:srgbClr val="A7B2AD"/>
                </a:solidFill>
                <a:latin typeface="Arial"/>
                <a:ea typeface="Arial"/>
                <a:cs typeface="Arial"/>
              </a:rPr>
              <a:t>BHARAT YANTRA  ·  MUMBAI F/S WARD</a:t>
            </a:r>
          </a:p>
        </p:txBody>
      </p:sp>
      <p:sp>
        <p:nvSpPr>
          <p:cNvPr id="5" name="footer-page-2">
            <a:extLst xmlns:a="http://schemas.openxmlformats.org/drawingml/2006/main">
              <a:ext uri="{FF2B5EF4-FFF2-40B4-BE49-F238E27FC236}">
                <a16:creationId xmlns:a16="http://schemas.microsoft.com/office/drawing/2014/main" id="{C2DDCCB1-6B67-404E-999C-60045BBDC5E5}"/>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E2B85D"/>
                </a:solidFill>
                <a:latin typeface="Arial"/>
                <a:ea typeface="Arial"/>
                <a:cs typeface="Arial"/>
              </a:defRPr>
            </a:defPPr>
          </a:lstStyle>
          <a:p xmlns:a="http://schemas.openxmlformats.org/drawingml/2006/main">
            <a:pPr algn="r">
              <a:defRPr sz="975" b="1">
                <a:solidFill>
                  <a:srgbClr val="E2B85D"/>
                </a:solidFill>
                <a:latin typeface="Arial"/>
                <a:ea typeface="Arial"/>
                <a:cs typeface="Arial"/>
              </a:defRPr>
            </a:pPr>
            <a:r>
              <a:rPr sz="975" b="1">
                <a:solidFill>
                  <a:srgbClr val="E2B85D"/>
                </a:solidFill>
                <a:latin typeface="Arial"/>
                <a:ea typeface="Arial"/>
                <a:cs typeface="Arial"/>
              </a:rPr>
              <a:t>02 / 07</a:t>
            </a:r>
          </a:p>
        </p:txBody>
      </p:sp>
      <p:sp>
        <p:nvSpPr>
          <p:cNvPr id="6" name="problem-lead">
            <a:extLst xmlns:a="http://schemas.openxmlformats.org/drawingml/2006/main">
              <a:ext uri="{FF2B5EF4-FFF2-40B4-BE49-F238E27FC236}">
                <a16:creationId xmlns:a16="http://schemas.microsoft.com/office/drawing/2014/main" id="{88FD7866-47E5-437B-A604-E6EDF2142428}"/>
              </a:ext>
            </a:extLst>
          </p:cNvPr>
          <p:cNvSpPr>
            <a:spLocks xmlns:a="http://schemas.openxmlformats.org/drawingml/2006/main" noGrp="1"/>
          </p:cNvSpPr>
          <p:nvPr/>
        </p:nvSpPr>
        <p:spPr>
          <a:xfrm xmlns:a="http://schemas.openxmlformats.org/drawingml/2006/main">
            <a:off x="609600" y="1695450"/>
            <a:ext cx="6572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F3F0E6"/>
                </a:solidFill>
                <a:latin typeface="Arial"/>
                <a:ea typeface="Arial"/>
                <a:cs typeface="Arial"/>
              </a:defRPr>
            </a:defPPr>
          </a:lstStyle>
          <a:p xmlns:a="http://schemas.openxmlformats.org/drawingml/2006/main">
            <a:pPr algn="l">
              <a:defRPr sz="2250" b="1">
                <a:solidFill>
                  <a:srgbClr val="F3F0E6"/>
                </a:solidFill>
                <a:latin typeface="Arial"/>
                <a:ea typeface="Arial"/>
                <a:cs typeface="Arial"/>
              </a:defRPr>
            </a:pPr>
            <a:r>
              <a:rPr sz="2250" b="1">
                <a:solidFill>
                  <a:srgbClr val="F3F0E6"/>
                </a:solidFill>
                <a:latin typeface="Arial"/>
                <a:ea typeface="Arial"/>
                <a:cs typeface="Arial"/>
              </a:rPr>
              <a:t>A planner must compare local evidence, possible disruptions and proposed works—while knowing what is missing.</a:t>
            </a:r>
          </a:p>
        </p:txBody>
      </p:sp>
      <p:sp>
        <p:nvSpPr>
          <p:cNvPr id="7" name="problem-divider">
            <a:extLst xmlns:a="http://schemas.openxmlformats.org/drawingml/2006/main">
              <a:ext uri="{FF2B5EF4-FFF2-40B4-BE49-F238E27FC236}">
                <a16:creationId xmlns:a16="http://schemas.microsoft.com/office/drawing/2014/main" id="{D25C0DE9-73CF-4BEC-9C1C-806C035C8441}"/>
              </a:ext>
            </a:extLst>
          </p:cNvPr>
          <p:cNvSpPr>
            <a:spLocks xmlns:a="http://schemas.openxmlformats.org/drawingml/2006/main" noGrp="1"/>
          </p:cNvSpPr>
          <p:nvPr/>
        </p:nvSpPr>
        <p:spPr>
          <a:xfrm xmlns:a="http://schemas.openxmlformats.org/drawingml/2006/main">
            <a:off x="7677150" y="1695450"/>
            <a:ext cx="19050" cy="3714750"/>
          </a:xfrm>
          <a:prstGeom xmlns:a="http://schemas.openxmlformats.org/drawingml/2006/main" prst="rect">
            <a:avLst/>
          </a:prstGeom>
          <a:solidFill xmlns:a="http://schemas.openxmlformats.org/drawingml/2006/main">
            <a:srgbClr val="E2B85D"/>
          </a:solidFill>
          <a:ln xmlns:a="http://schemas.openxmlformats.org/drawingml/2006/main" w="0">
            <a:noFill/>
            <a:prstDash val="solid"/>
          </a:ln>
        </p:spPr>
      </p:sp>
      <p:sp>
        <p:nvSpPr>
          <p:cNvPr id="8" name="problem-user-label">
            <a:extLst xmlns:a="http://schemas.openxmlformats.org/drawingml/2006/main">
              <a:ext uri="{FF2B5EF4-FFF2-40B4-BE49-F238E27FC236}">
                <a16:creationId xmlns:a16="http://schemas.microsoft.com/office/drawing/2014/main" id="{05AB9168-2FB0-42DF-9BEF-6E35207F3FE3}"/>
              </a:ext>
            </a:extLst>
          </p:cNvPr>
          <p:cNvSpPr>
            <a:spLocks xmlns:a="http://schemas.openxmlformats.org/drawingml/2006/main" noGrp="1"/>
          </p:cNvSpPr>
          <p:nvPr/>
        </p:nvSpPr>
        <p:spPr>
          <a:xfrm xmlns:a="http://schemas.openxmlformats.org/drawingml/2006/main">
            <a:off x="8096250" y="18097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E2B85D"/>
                </a:solidFill>
                <a:latin typeface="Arial"/>
                <a:ea typeface="Arial"/>
                <a:cs typeface="Arial"/>
              </a:defRPr>
            </a:defPPr>
          </a:lstStyle>
          <a:p xmlns:a="http://schemas.openxmlformats.org/drawingml/2006/main">
            <a:pPr algn="l">
              <a:defRPr sz="1200" b="1">
                <a:solidFill>
                  <a:srgbClr val="E2B85D"/>
                </a:solidFill>
                <a:latin typeface="Arial"/>
                <a:ea typeface="Arial"/>
                <a:cs typeface="Arial"/>
              </a:defRPr>
            </a:pPr>
            <a:r>
              <a:rPr sz="1200" b="1">
                <a:solidFill>
                  <a:srgbClr val="E2B85D"/>
                </a:solidFill>
                <a:latin typeface="Arial"/>
                <a:ea typeface="Arial"/>
                <a:cs typeface="Arial"/>
              </a:rPr>
              <a:t>INTENDED USERS</a:t>
            </a:r>
          </a:p>
        </p:txBody>
      </p:sp>
      <p:sp>
        <p:nvSpPr>
          <p:cNvPr id="9" name="problem-users">
            <a:extLst xmlns:a="http://schemas.openxmlformats.org/drawingml/2006/main">
              <a:ext uri="{FF2B5EF4-FFF2-40B4-BE49-F238E27FC236}">
                <a16:creationId xmlns:a16="http://schemas.microsoft.com/office/drawing/2014/main" id="{D1E39E3F-2591-4C1F-8502-C744DA9C69C8}"/>
              </a:ext>
            </a:extLst>
          </p:cNvPr>
          <p:cNvSpPr>
            <a:spLocks xmlns:a="http://schemas.openxmlformats.org/drawingml/2006/main" noGrp="1"/>
          </p:cNvSpPr>
          <p:nvPr/>
        </p:nvSpPr>
        <p:spPr>
          <a:xfrm xmlns:a="http://schemas.openxmlformats.org/drawingml/2006/main">
            <a:off x="8096250" y="2228850"/>
            <a:ext cx="34290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F3F0E6"/>
                </a:solidFill>
                <a:latin typeface="Arial"/>
                <a:ea typeface="Arial"/>
                <a:cs typeface="Arial"/>
              </a:defRPr>
            </a:defPPr>
          </a:lstStyle>
          <a:p xmlns:a="http://schemas.openxmlformats.org/drawingml/2006/main">
            <a:pPr algn="l">
              <a:defRPr sz="1800" b="0">
                <a:solidFill>
                  <a:srgbClr val="F3F0E6"/>
                </a:solidFill>
                <a:latin typeface="Arial"/>
                <a:ea typeface="Arial"/>
                <a:cs typeface="Arial"/>
              </a:defRPr>
            </a:pPr>
            <a:r>
              <a:rPr sz="1800" b="0">
                <a:solidFill>
                  <a:srgbClr val="F3F0E6"/>
                </a:solidFill>
                <a:latin typeface="Arial"/>
                <a:ea typeface="Arial"/>
                <a:cs typeface="Arial"/>
              </a:rPr>
              <a:t>Ward planning teams</a:t>
            </a:r>
          </a:p>
          <a:p xmlns:a="http://schemas.openxmlformats.org/drawingml/2006/main">
            <a:pPr algn="l">
              <a:defRPr sz="1800" b="0">
                <a:solidFill>
                  <a:srgbClr val="F3F0E6"/>
                </a:solidFill>
                <a:latin typeface="Arial"/>
                <a:ea typeface="Arial"/>
                <a:cs typeface="Arial"/>
              </a:defRPr>
            </a:pPr>
            <a:r>
              <a:rPr sz="1800" b="0">
                <a:solidFill>
                  <a:srgbClr val="F3F0E6"/>
                </a:solidFill>
                <a:latin typeface="Arial"/>
                <a:ea typeface="Arial"/>
                <a:cs typeface="Arial"/>
              </a:rPr>
              <a:t>Disaster-preparedness staff</a:t>
            </a:r>
          </a:p>
          <a:p xmlns:a="http://schemas.openxmlformats.org/drawingml/2006/main">
            <a:pPr algn="l">
              <a:defRPr sz="1800" b="0">
                <a:solidFill>
                  <a:srgbClr val="F3F0E6"/>
                </a:solidFill>
                <a:latin typeface="Arial"/>
                <a:ea typeface="Arial"/>
                <a:cs typeface="Arial"/>
              </a:defRPr>
            </a:pPr>
            <a:r>
              <a:rPr sz="1800" b="0">
                <a:solidFill>
                  <a:srgbClr val="F3F0E6"/>
                </a:solidFill>
                <a:latin typeface="Arial"/>
                <a:ea typeface="Arial"/>
                <a:cs typeface="Arial"/>
              </a:rPr>
              <a:t>Public-works planners</a:t>
            </a:r>
          </a:p>
        </p:txBody>
      </p:sp>
      <p:sp>
        <p:nvSpPr>
          <p:cNvPr id="10" name="problem-gap-label">
            <a:extLst xmlns:a="http://schemas.openxmlformats.org/drawingml/2006/main">
              <a:ext uri="{FF2B5EF4-FFF2-40B4-BE49-F238E27FC236}">
                <a16:creationId xmlns:a16="http://schemas.microsoft.com/office/drawing/2014/main" id="{176150D0-9BFC-4E5F-A9E5-BA7EEBB9A0BF}"/>
              </a:ext>
            </a:extLst>
          </p:cNvPr>
          <p:cNvSpPr>
            <a:spLocks xmlns:a="http://schemas.openxmlformats.org/drawingml/2006/main" noGrp="1"/>
          </p:cNvSpPr>
          <p:nvPr/>
        </p:nvSpPr>
        <p:spPr>
          <a:xfrm xmlns:a="http://schemas.openxmlformats.org/drawingml/2006/main">
            <a:off x="609600" y="3505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E2B85D"/>
                </a:solidFill>
                <a:latin typeface="Arial"/>
                <a:ea typeface="Arial"/>
                <a:cs typeface="Arial"/>
              </a:defRPr>
            </a:defPPr>
          </a:lstStyle>
          <a:p xmlns:a="http://schemas.openxmlformats.org/drawingml/2006/main">
            <a:pPr algn="l">
              <a:defRPr sz="1200" b="1">
                <a:solidFill>
                  <a:srgbClr val="E2B85D"/>
                </a:solidFill>
                <a:latin typeface="Arial"/>
                <a:ea typeface="Arial"/>
                <a:cs typeface="Arial"/>
              </a:defRPr>
            </a:pPr>
            <a:r>
              <a:rPr sz="1200" b="1">
                <a:solidFill>
                  <a:srgbClr val="E2B85D"/>
                </a:solidFill>
                <a:latin typeface="Arial"/>
                <a:ea typeface="Arial"/>
                <a:cs typeface="Arial"/>
              </a:rPr>
              <a:t>CURRENT GAP</a:t>
            </a:r>
          </a:p>
        </p:txBody>
      </p:sp>
      <p:sp>
        <p:nvSpPr>
          <p:cNvPr id="11" name="problem-gap">
            <a:extLst xmlns:a="http://schemas.openxmlformats.org/drawingml/2006/main">
              <a:ext uri="{FF2B5EF4-FFF2-40B4-BE49-F238E27FC236}">
                <a16:creationId xmlns:a16="http://schemas.microsoft.com/office/drawing/2014/main" id="{FE13EC7B-C6F9-49E8-9312-7F2D43135A4C}"/>
              </a:ext>
            </a:extLst>
          </p:cNvPr>
          <p:cNvSpPr>
            <a:spLocks xmlns:a="http://schemas.openxmlformats.org/drawingml/2006/main" noGrp="1"/>
          </p:cNvSpPr>
          <p:nvPr/>
        </p:nvSpPr>
        <p:spPr>
          <a:xfrm xmlns:a="http://schemas.openxmlformats.org/drawingml/2006/main">
            <a:off x="609600" y="3886200"/>
            <a:ext cx="6477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A7B2AD"/>
                </a:solidFill>
                <a:latin typeface="Arial"/>
                <a:ea typeface="Arial"/>
                <a:cs typeface="Arial"/>
              </a:defRPr>
            </a:defPPr>
          </a:lstStyle>
          <a:p xmlns:a="http://schemas.openxmlformats.org/drawingml/2006/main">
            <a:pPr algn="l">
              <a:defRPr sz="1800" b="0">
                <a:solidFill>
                  <a:srgbClr val="A7B2AD"/>
                </a:solidFill>
                <a:latin typeface="Arial"/>
                <a:ea typeface="Arial"/>
                <a:cs typeface="Arial"/>
              </a:defRPr>
            </a:pPr>
            <a:r>
              <a:rPr sz="1800" b="0">
                <a:solidFill>
                  <a:srgbClr val="A7B2AD"/>
                </a:solidFill>
                <a:latin typeface="Arial"/>
                <a:ea typeface="Arial"/>
                <a:cs typeface="Arial"/>
              </a:rPr>
              <a:t>Rainfall assumptions, road access, health locations and candidate works are difficult to review together when the evidence is spread across separate layers and tools.</a:t>
            </a:r>
          </a:p>
        </p:txBody>
      </p:sp>
      <p:sp>
        <p:nvSpPr>
          <p:cNvPr id="12" name="problem-qualification">
            <a:extLst xmlns:a="http://schemas.openxmlformats.org/drawingml/2006/main">
              <a:ext uri="{FF2B5EF4-FFF2-40B4-BE49-F238E27FC236}">
                <a16:creationId xmlns:a16="http://schemas.microsoft.com/office/drawing/2014/main" id="{C11BF4B7-0624-40D1-B826-8B4B9963FC0D}"/>
              </a:ext>
            </a:extLst>
          </p:cNvPr>
          <p:cNvSpPr>
            <a:spLocks xmlns:a="http://schemas.openxmlformats.org/drawingml/2006/main" noGrp="1"/>
          </p:cNvSpPr>
          <p:nvPr/>
        </p:nvSpPr>
        <p:spPr>
          <a:xfrm xmlns:a="http://schemas.openxmlformats.org/drawingml/2006/main">
            <a:off x="8096250" y="4000500"/>
            <a:ext cx="32861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A7B2AD"/>
                </a:solidFill>
                <a:latin typeface="Arial"/>
                <a:ea typeface="Arial"/>
                <a:cs typeface="Arial"/>
              </a:defRPr>
            </a:defPPr>
          </a:lstStyle>
          <a:p xmlns:a="http://schemas.openxmlformats.org/drawingml/2006/main">
            <a:pPr algn="l">
              <a:defRPr sz="1500" b="0">
                <a:solidFill>
                  <a:srgbClr val="A7B2AD"/>
                </a:solidFill>
                <a:latin typeface="Arial"/>
                <a:ea typeface="Arial"/>
                <a:cs typeface="Arial"/>
              </a:defRPr>
            </a:pPr>
            <a:r>
              <a:rPr sz="1500" b="0">
                <a:solidFill>
                  <a:srgbClr val="A7B2AD"/>
                </a:solidFill>
                <a:latin typeface="Arial"/>
                <a:ea typeface="Arial"/>
                <a:cs typeface="Arial"/>
              </a:rPr>
              <a:t>F/S Ward is a provisional development testbed. No municipal endorsement or operational readiness is claimed.</a:t>
            </a:r>
          </a:p>
        </p:txBody>
      </p:sp>
    </p:spTree>
    <p:extLst>
      <p:ext uri="{BB962C8B-B14F-4D97-AF65-F5344CB8AC3E}">
        <p14:creationId xmlns:p14="http://schemas.microsoft.com/office/powerpoint/2010/main" val="1205410133"/>
      </p:ext>
    </p:extLst>
  </p:cSld>
</p:sld>
</file>

<file path=ppt/slides/slide3.xml><?xml version="1.0" encoding="utf-8"?>
<p:sld xmlns:p="http://schemas.openxmlformats.org/presentationml/2006/main">
  <p:cSld>
    <p:bg>
      <p:bgPr>
        <a:solidFill xmlns:a="http://schemas.openxmlformats.org/drawingml/2006/main">
          <a:srgbClr val="101B1F"/>
        </a:solidFill>
      </p:bgPr>
    </p:bg>
    <p:spTree>
      <p:nvGrpSpPr>
        <p:cNvPr id="1" name=""/>
        <p:cNvGrpSpPr/>
        <p:nvPr/>
      </p:nvGrpSpPr>
      <p:grpSpPr>
        <a:xfrm xmlns:a="http://schemas.openxmlformats.org/drawingml/2006/main"/>
      </p:grpSpPr>
      <p:sp>
        <p:nvSpPr>
          <p:cNvPr id="27" name="kicker-3">
            <a:extLst xmlns:a="http://schemas.openxmlformats.org/drawingml/2006/main">
              <a:ext uri="{FF2B5EF4-FFF2-40B4-BE49-F238E27FC236}">
                <a16:creationId xmlns:a16="http://schemas.microsoft.com/office/drawing/2014/main" id="{6FCBE7EF-7A41-4141-9400-DDCBCF8C83A3}"/>
              </a:ext>
            </a:extLst>
          </p:cNvPr>
          <p:cNvSpPr>
            <a:spLocks xmlns:a="http://schemas.openxmlformats.org/drawingml/2006/main" noGrp="1"/>
          </p:cNvSpPr>
          <p:nvPr/>
        </p:nvSpPr>
        <p:spPr>
          <a:xfrm xmlns:a="http://schemas.openxmlformats.org/drawingml/2006/main">
            <a:off x="609600" y="400050"/>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2B85D"/>
                </a:solidFill>
                <a:latin typeface="Arial"/>
                <a:ea typeface="Arial"/>
                <a:cs typeface="Arial"/>
              </a:defRPr>
            </a:defPPr>
          </a:lstStyle>
          <a:p xmlns:a="http://schemas.openxmlformats.org/drawingml/2006/main">
            <a:pPr algn="l">
              <a:defRPr sz="1125" b="1">
                <a:solidFill>
                  <a:srgbClr val="E2B85D"/>
                </a:solidFill>
                <a:latin typeface="Arial"/>
                <a:ea typeface="Arial"/>
                <a:cs typeface="Arial"/>
              </a:defRPr>
            </a:pPr>
            <a:r>
              <a:rPr sz="1125" b="1">
                <a:solidFill>
                  <a:srgbClr val="E2B85D"/>
                </a:solidFill>
                <a:latin typeface="Arial"/>
                <a:ea typeface="Arial"/>
                <a:cs typeface="Arial"/>
              </a:rPr>
              <a:t>SOLUTION OVERVIEW</a:t>
            </a:r>
          </a:p>
        </p:txBody>
      </p:sp>
      <p:sp>
        <p:nvSpPr>
          <p:cNvPr id="2" name="title-3">
            <a:extLst xmlns:a="http://schemas.openxmlformats.org/drawingml/2006/main">
              <a:ext uri="{FF2B5EF4-FFF2-40B4-BE49-F238E27FC236}">
                <a16:creationId xmlns:a16="http://schemas.microsoft.com/office/drawing/2014/main" id="{02247661-9ABE-41FA-B269-D66CF57F51B5}"/>
              </a:ext>
            </a:extLst>
          </p:cNvPr>
          <p:cNvSpPr>
            <a:spLocks xmlns:a="http://schemas.openxmlformats.org/drawingml/2006/main" noGrp="1"/>
          </p:cNvSpPr>
          <p:nvPr/>
        </p:nvSpPr>
        <p:spPr>
          <a:xfrm xmlns:a="http://schemas.openxmlformats.org/drawingml/2006/main">
            <a:off x="609600" y="7429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F3F0E6"/>
                </a:solidFill>
                <a:latin typeface="Arial"/>
                <a:ea typeface="Arial"/>
                <a:cs typeface="Arial"/>
              </a:defRPr>
            </a:defPPr>
          </a:lstStyle>
          <a:p xmlns:a="http://schemas.openxmlformats.org/drawingml/2006/main">
            <a:pPr algn="l">
              <a:defRPr sz="4050" b="1">
                <a:solidFill>
                  <a:srgbClr val="F3F0E6"/>
                </a:solidFill>
                <a:latin typeface="Arial"/>
                <a:ea typeface="Arial"/>
                <a:cs typeface="Arial"/>
              </a:defRPr>
            </a:pPr>
            <a:r>
              <a:rPr sz="4050" b="1">
                <a:solidFill>
                  <a:srgbClr val="F3F0E6"/>
                </a:solidFill>
                <a:latin typeface="Arial"/>
                <a:ea typeface="Arial"/>
                <a:cs typeface="Arial"/>
              </a:rPr>
              <a:t>One workflow from scenario to review</a:t>
            </a:r>
          </a:p>
        </p:txBody>
      </p:sp>
      <p:sp>
        <p:nvSpPr>
          <p:cNvPr id="3" name="footer-rule-3">
            <a:extLst xmlns:a="http://schemas.openxmlformats.org/drawingml/2006/main">
              <a:ext uri="{FF2B5EF4-FFF2-40B4-BE49-F238E27FC236}">
                <a16:creationId xmlns:a16="http://schemas.microsoft.com/office/drawing/2014/main" id="{DA5DC564-5B40-4F95-95A8-EB4DD5FE195D}"/>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4" name="footer-name-3">
            <a:extLst xmlns:a="http://schemas.openxmlformats.org/drawingml/2006/main">
              <a:ext uri="{FF2B5EF4-FFF2-40B4-BE49-F238E27FC236}">
                <a16:creationId xmlns:a16="http://schemas.microsoft.com/office/drawing/2014/main" id="{94E3A8D5-F879-43CF-980F-0534E15862FF}"/>
              </a:ext>
            </a:extLst>
          </p:cNvPr>
          <p:cNvSpPr>
            <a:spLocks xmlns:a="http://schemas.openxmlformats.org/drawingml/2006/main" noGrp="1"/>
          </p:cNvSpPr>
          <p:nvPr/>
        </p:nvSpPr>
        <p:spPr>
          <a:xfrm xmlns:a="http://schemas.openxmlformats.org/drawingml/2006/main">
            <a:off x="609600" y="6496050"/>
            <a:ext cx="628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A7B2AD"/>
                </a:solidFill>
                <a:latin typeface="Arial"/>
                <a:ea typeface="Arial"/>
                <a:cs typeface="Arial"/>
              </a:defRPr>
            </a:defPPr>
          </a:lstStyle>
          <a:p xmlns:a="http://schemas.openxmlformats.org/drawingml/2006/main">
            <a:pPr algn="l">
              <a:defRPr sz="975" b="1">
                <a:solidFill>
                  <a:srgbClr val="A7B2AD"/>
                </a:solidFill>
                <a:latin typeface="Arial"/>
                <a:ea typeface="Arial"/>
                <a:cs typeface="Arial"/>
              </a:defRPr>
            </a:pPr>
            <a:r>
              <a:rPr sz="975" b="1">
                <a:solidFill>
                  <a:srgbClr val="A7B2AD"/>
                </a:solidFill>
                <a:latin typeface="Arial"/>
                <a:ea typeface="Arial"/>
                <a:cs typeface="Arial"/>
              </a:rPr>
              <a:t>BHARAT YANTRA  ·  MUMBAI F/S WARD</a:t>
            </a:r>
          </a:p>
        </p:txBody>
      </p:sp>
      <p:sp>
        <p:nvSpPr>
          <p:cNvPr id="5" name="footer-page-3">
            <a:extLst xmlns:a="http://schemas.openxmlformats.org/drawingml/2006/main">
              <a:ext uri="{FF2B5EF4-FFF2-40B4-BE49-F238E27FC236}">
                <a16:creationId xmlns:a16="http://schemas.microsoft.com/office/drawing/2014/main" id="{F460A775-21AD-4BED-B44B-BCE91075F60A}"/>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E2B85D"/>
                </a:solidFill>
                <a:latin typeface="Arial"/>
                <a:ea typeface="Arial"/>
                <a:cs typeface="Arial"/>
              </a:defRPr>
            </a:defPPr>
          </a:lstStyle>
          <a:p xmlns:a="http://schemas.openxmlformats.org/drawingml/2006/main">
            <a:pPr algn="r">
              <a:defRPr sz="975" b="1">
                <a:solidFill>
                  <a:srgbClr val="E2B85D"/>
                </a:solidFill>
                <a:latin typeface="Arial"/>
                <a:ea typeface="Arial"/>
                <a:cs typeface="Arial"/>
              </a:defRPr>
            </a:pPr>
            <a:r>
              <a:rPr sz="975" b="1">
                <a:solidFill>
                  <a:srgbClr val="E2B85D"/>
                </a:solidFill>
                <a:latin typeface="Arial"/>
                <a:ea typeface="Arial"/>
                <a:cs typeface="Arial"/>
              </a:rPr>
              <a:t>03 / 07</a:t>
            </a:r>
          </a:p>
        </p:txBody>
      </p:sp>
      <p:sp>
        <p:nvSpPr>
          <p:cNvPr id="6" name="workflow-intro">
            <a:extLst xmlns:a="http://schemas.openxmlformats.org/drawingml/2006/main">
              <a:ext uri="{FF2B5EF4-FFF2-40B4-BE49-F238E27FC236}">
                <a16:creationId xmlns:a16="http://schemas.microsoft.com/office/drawing/2014/main" id="{3C416DA7-935B-4EE4-807C-F3F7221B4BF4}"/>
              </a:ext>
            </a:extLst>
          </p:cNvPr>
          <p:cNvSpPr>
            <a:spLocks xmlns:a="http://schemas.openxmlformats.org/drawingml/2006/main" noGrp="1"/>
          </p:cNvSpPr>
          <p:nvPr/>
        </p:nvSpPr>
        <p:spPr>
          <a:xfrm xmlns:a="http://schemas.openxmlformats.org/drawingml/2006/main">
            <a:off x="609600" y="16954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A7B2AD"/>
                </a:solidFill>
                <a:latin typeface="Arial"/>
                <a:ea typeface="Arial"/>
                <a:cs typeface="Arial"/>
              </a:defRPr>
            </a:defPPr>
          </a:lstStyle>
          <a:p xmlns:a="http://schemas.openxmlformats.org/drawingml/2006/main">
            <a:pPr algn="l">
              <a:defRPr sz="2025" b="0">
                <a:solidFill>
                  <a:srgbClr val="A7B2AD"/>
                </a:solidFill>
                <a:latin typeface="Arial"/>
                <a:ea typeface="Arial"/>
                <a:cs typeface="Arial"/>
              </a:defRPr>
            </a:pPr>
            <a:r>
              <a:rPr sz="2025" b="0">
                <a:solidFill>
                  <a:srgbClr val="A7B2AD"/>
                </a:solidFill>
                <a:latin typeface="Arial"/>
                <a:ea typeface="Arial"/>
                <a:cs typeface="Arial"/>
              </a:rPr>
              <a:t>Change an assumption. See what it touches. Keep the next review visible.</a:t>
            </a:r>
          </a:p>
        </p:txBody>
      </p:sp>
      <p:sp>
        <p:nvSpPr>
          <p:cNvPr id="7" name="workflow-accent-0">
            <a:extLst xmlns:a="http://schemas.openxmlformats.org/drawingml/2006/main">
              <a:ext uri="{FF2B5EF4-FFF2-40B4-BE49-F238E27FC236}">
                <a16:creationId xmlns:a16="http://schemas.microsoft.com/office/drawing/2014/main" id="{966C91BB-BD9A-4DA8-8DCF-0739B7BC719C}"/>
              </a:ext>
            </a:extLst>
          </p:cNvPr>
          <p:cNvSpPr>
            <a:spLocks xmlns:a="http://schemas.openxmlformats.org/drawingml/2006/main" noGrp="1"/>
          </p:cNvSpPr>
          <p:nvPr/>
        </p:nvSpPr>
        <p:spPr>
          <a:xfrm xmlns:a="http://schemas.openxmlformats.org/drawingml/2006/main">
            <a:off x="714375" y="2686050"/>
            <a:ext cx="76200" cy="2019300"/>
          </a:xfrm>
          <a:prstGeom xmlns:a="http://schemas.openxmlformats.org/drawingml/2006/main" prst="rect">
            <a:avLst/>
          </a:prstGeom>
          <a:solidFill xmlns:a="http://schemas.openxmlformats.org/drawingml/2006/main">
            <a:srgbClr val="E2B85D"/>
          </a:solidFill>
          <a:ln xmlns:a="http://schemas.openxmlformats.org/drawingml/2006/main" w="0">
            <a:noFill/>
            <a:prstDash val="solid"/>
          </a:ln>
        </p:spPr>
      </p:sp>
      <p:sp>
        <p:nvSpPr>
          <p:cNvPr id="8" name="workflow-number-0">
            <a:extLst xmlns:a="http://schemas.openxmlformats.org/drawingml/2006/main">
              <a:ext uri="{FF2B5EF4-FFF2-40B4-BE49-F238E27FC236}">
                <a16:creationId xmlns:a16="http://schemas.microsoft.com/office/drawing/2014/main" id="{F547BF75-1D91-4925-A335-1DB0B50393A9}"/>
              </a:ext>
            </a:extLst>
          </p:cNvPr>
          <p:cNvSpPr>
            <a:spLocks xmlns:a="http://schemas.openxmlformats.org/drawingml/2006/main" noGrp="1"/>
          </p:cNvSpPr>
          <p:nvPr/>
        </p:nvSpPr>
        <p:spPr>
          <a:xfrm xmlns:a="http://schemas.openxmlformats.org/drawingml/2006/main">
            <a:off x="952500" y="268605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E2B85D"/>
                </a:solidFill>
                <a:latin typeface="Arial"/>
                <a:ea typeface="Arial"/>
                <a:cs typeface="Arial"/>
              </a:defRPr>
            </a:defPPr>
          </a:lstStyle>
          <a:p xmlns:a="http://schemas.openxmlformats.org/drawingml/2006/main">
            <a:pPr algn="l">
              <a:defRPr sz="1575" b="1">
                <a:solidFill>
                  <a:srgbClr val="E2B85D"/>
                </a:solidFill>
                <a:latin typeface="Arial"/>
                <a:ea typeface="Arial"/>
                <a:cs typeface="Arial"/>
              </a:defRPr>
            </a:pPr>
            <a:r>
              <a:rPr sz="1575" b="1">
                <a:solidFill>
                  <a:srgbClr val="E2B85D"/>
                </a:solidFill>
                <a:latin typeface="Arial"/>
                <a:ea typeface="Arial"/>
                <a:cs typeface="Arial"/>
              </a:rPr>
              <a:t>01</a:t>
            </a:r>
          </a:p>
        </p:txBody>
      </p:sp>
      <p:sp>
        <p:nvSpPr>
          <p:cNvPr id="9" name="workflow-title-0">
            <a:extLst xmlns:a="http://schemas.openxmlformats.org/drawingml/2006/main">
              <a:ext uri="{FF2B5EF4-FFF2-40B4-BE49-F238E27FC236}">
                <a16:creationId xmlns:a16="http://schemas.microsoft.com/office/drawing/2014/main" id="{E27C7D46-7A17-4870-AC05-F675150A776F}"/>
              </a:ext>
            </a:extLst>
          </p:cNvPr>
          <p:cNvSpPr>
            <a:spLocks xmlns:a="http://schemas.openxmlformats.org/drawingml/2006/main" noGrp="1"/>
          </p:cNvSpPr>
          <p:nvPr/>
        </p:nvSpPr>
        <p:spPr>
          <a:xfrm xmlns:a="http://schemas.openxmlformats.org/drawingml/2006/main">
            <a:off x="952500" y="318135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F3F0E6"/>
                </a:solidFill>
                <a:latin typeface="Arial"/>
                <a:ea typeface="Arial"/>
                <a:cs typeface="Arial"/>
              </a:defRPr>
            </a:defPPr>
          </a:lstStyle>
          <a:p xmlns:a="http://schemas.openxmlformats.org/drawingml/2006/main">
            <a:pPr algn="l">
              <a:defRPr sz="2100" b="1">
                <a:solidFill>
                  <a:srgbClr val="F3F0E6"/>
                </a:solidFill>
                <a:latin typeface="Arial"/>
                <a:ea typeface="Arial"/>
                <a:cs typeface="Arial"/>
              </a:defRPr>
            </a:pPr>
            <a:r>
              <a:rPr sz="2100" b="1">
                <a:solidFill>
                  <a:srgbClr val="F3F0E6"/>
                </a:solidFill>
                <a:latin typeface="Arial"/>
                <a:ea typeface="Arial"/>
                <a:cs typeface="Arial"/>
              </a:rPr>
              <a:t>Set a scenario</a:t>
            </a:r>
          </a:p>
        </p:txBody>
      </p:sp>
      <p:sp>
        <p:nvSpPr>
          <p:cNvPr id="10" name="workflow-detail-0">
            <a:extLst xmlns:a="http://schemas.openxmlformats.org/drawingml/2006/main">
              <a:ext uri="{FF2B5EF4-FFF2-40B4-BE49-F238E27FC236}">
                <a16:creationId xmlns:a16="http://schemas.microsoft.com/office/drawing/2014/main" id="{E8D72E4C-0E0B-44A6-98B0-5BD38D90B4A9}"/>
              </a:ext>
            </a:extLst>
          </p:cNvPr>
          <p:cNvSpPr>
            <a:spLocks xmlns:a="http://schemas.openxmlformats.org/drawingml/2006/main" noGrp="1"/>
          </p:cNvSpPr>
          <p:nvPr/>
        </p:nvSpPr>
        <p:spPr>
          <a:xfrm xmlns:a="http://schemas.openxmlformats.org/drawingml/2006/main">
            <a:off x="952500" y="3962400"/>
            <a:ext cx="2238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7B2AD"/>
                </a:solidFill>
                <a:latin typeface="Arial"/>
                <a:ea typeface="Arial"/>
                <a:cs typeface="Arial"/>
              </a:defRPr>
            </a:defPPr>
          </a:lstStyle>
          <a:p xmlns:a="http://schemas.openxmlformats.org/drawingml/2006/main">
            <a:pPr algn="l">
              <a:defRPr sz="1575" b="0">
                <a:solidFill>
                  <a:srgbClr val="A7B2AD"/>
                </a:solidFill>
                <a:latin typeface="Arial"/>
                <a:ea typeface="Arial"/>
                <a:cs typeface="Arial"/>
              </a:defRPr>
            </a:pPr>
            <a:r>
              <a:rPr sz="1575" b="0">
                <a:solidFill>
                  <a:srgbClr val="A7B2AD"/>
                </a:solidFill>
                <a:latin typeface="Arial"/>
                <a:ea typeface="Arial"/>
                <a:cs typeface="Arial"/>
              </a:rPr>
              <a:t>Rainfall, a road closure, or a planning envelope</a:t>
            </a:r>
          </a:p>
        </p:txBody>
      </p:sp>
      <p:sp>
        <p:nvSpPr>
          <p:cNvPr id="11" name="workflow-line-0">
            <a:extLst xmlns:a="http://schemas.openxmlformats.org/drawingml/2006/main">
              <a:ext uri="{FF2B5EF4-FFF2-40B4-BE49-F238E27FC236}">
                <a16:creationId xmlns:a16="http://schemas.microsoft.com/office/drawing/2014/main" id="{04F24087-689B-4C9B-A425-05F7AB2A1D41}"/>
              </a:ext>
            </a:extLst>
          </p:cNvPr>
          <p:cNvSpPr>
            <a:spLocks xmlns:a="http://schemas.openxmlformats.org/drawingml/2006/main" noGrp="1"/>
          </p:cNvSpPr>
          <p:nvPr/>
        </p:nvSpPr>
        <p:spPr>
          <a:xfrm xmlns:a="http://schemas.openxmlformats.org/drawingml/2006/main">
            <a:off x="3267075" y="3657600"/>
            <a:ext cx="266700" cy="19050"/>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12" name="workflow-accent-1">
            <a:extLst xmlns:a="http://schemas.openxmlformats.org/drawingml/2006/main">
              <a:ext uri="{FF2B5EF4-FFF2-40B4-BE49-F238E27FC236}">
                <a16:creationId xmlns:a16="http://schemas.microsoft.com/office/drawing/2014/main" id="{3776A4C1-1461-4E49-96EC-9E850A6B453C}"/>
              </a:ext>
            </a:extLst>
          </p:cNvPr>
          <p:cNvSpPr>
            <a:spLocks xmlns:a="http://schemas.openxmlformats.org/drawingml/2006/main" noGrp="1"/>
          </p:cNvSpPr>
          <p:nvPr/>
        </p:nvSpPr>
        <p:spPr>
          <a:xfrm xmlns:a="http://schemas.openxmlformats.org/drawingml/2006/main">
            <a:off x="3619500" y="2686050"/>
            <a:ext cx="76200" cy="2019300"/>
          </a:xfrm>
          <a:prstGeom xmlns:a="http://schemas.openxmlformats.org/drawingml/2006/main" prst="rect">
            <a:avLst/>
          </a:prstGeom>
          <a:solidFill xmlns:a="http://schemas.openxmlformats.org/drawingml/2006/main">
            <a:srgbClr val="87B49C"/>
          </a:solidFill>
          <a:ln xmlns:a="http://schemas.openxmlformats.org/drawingml/2006/main" w="0">
            <a:noFill/>
            <a:prstDash val="solid"/>
          </a:ln>
        </p:spPr>
      </p:sp>
      <p:sp>
        <p:nvSpPr>
          <p:cNvPr id="13" name="workflow-number-1">
            <a:extLst xmlns:a="http://schemas.openxmlformats.org/drawingml/2006/main">
              <a:ext uri="{FF2B5EF4-FFF2-40B4-BE49-F238E27FC236}">
                <a16:creationId xmlns:a16="http://schemas.microsoft.com/office/drawing/2014/main" id="{CA50E41E-B570-4A41-A54C-9AABCF555404}"/>
              </a:ext>
            </a:extLst>
          </p:cNvPr>
          <p:cNvSpPr>
            <a:spLocks xmlns:a="http://schemas.openxmlformats.org/drawingml/2006/main" noGrp="1"/>
          </p:cNvSpPr>
          <p:nvPr/>
        </p:nvSpPr>
        <p:spPr>
          <a:xfrm xmlns:a="http://schemas.openxmlformats.org/drawingml/2006/main">
            <a:off x="3857625" y="268605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E2B85D"/>
                </a:solidFill>
                <a:latin typeface="Arial"/>
                <a:ea typeface="Arial"/>
                <a:cs typeface="Arial"/>
              </a:defRPr>
            </a:defPPr>
          </a:lstStyle>
          <a:p xmlns:a="http://schemas.openxmlformats.org/drawingml/2006/main">
            <a:pPr algn="l">
              <a:defRPr sz="1575" b="1">
                <a:solidFill>
                  <a:srgbClr val="E2B85D"/>
                </a:solidFill>
                <a:latin typeface="Arial"/>
                <a:ea typeface="Arial"/>
                <a:cs typeface="Arial"/>
              </a:defRPr>
            </a:pPr>
            <a:r>
              <a:rPr sz="1575" b="1">
                <a:solidFill>
                  <a:srgbClr val="E2B85D"/>
                </a:solidFill>
                <a:latin typeface="Arial"/>
                <a:ea typeface="Arial"/>
                <a:cs typeface="Arial"/>
              </a:rPr>
              <a:t>02</a:t>
            </a:r>
          </a:p>
        </p:txBody>
      </p:sp>
      <p:sp>
        <p:nvSpPr>
          <p:cNvPr id="14" name="workflow-title-1">
            <a:extLst xmlns:a="http://schemas.openxmlformats.org/drawingml/2006/main">
              <a:ext uri="{FF2B5EF4-FFF2-40B4-BE49-F238E27FC236}">
                <a16:creationId xmlns:a16="http://schemas.microsoft.com/office/drawing/2014/main" id="{6273DF72-8BE0-4987-AADF-B84B43A8C193}"/>
              </a:ext>
            </a:extLst>
          </p:cNvPr>
          <p:cNvSpPr>
            <a:spLocks xmlns:a="http://schemas.openxmlformats.org/drawingml/2006/main" noGrp="1"/>
          </p:cNvSpPr>
          <p:nvPr/>
        </p:nvSpPr>
        <p:spPr>
          <a:xfrm xmlns:a="http://schemas.openxmlformats.org/drawingml/2006/main">
            <a:off x="3857625" y="318135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F3F0E6"/>
                </a:solidFill>
                <a:latin typeface="Arial"/>
                <a:ea typeface="Arial"/>
                <a:cs typeface="Arial"/>
              </a:defRPr>
            </a:defPPr>
          </a:lstStyle>
          <a:p xmlns:a="http://schemas.openxmlformats.org/drawingml/2006/main">
            <a:pPr algn="l">
              <a:defRPr sz="2100" b="1">
                <a:solidFill>
                  <a:srgbClr val="F3F0E6"/>
                </a:solidFill>
                <a:latin typeface="Arial"/>
                <a:ea typeface="Arial"/>
                <a:cs typeface="Arial"/>
              </a:defRPr>
            </a:pPr>
            <a:r>
              <a:rPr sz="2100" b="1">
                <a:solidFill>
                  <a:srgbClr val="F3F0E6"/>
                </a:solidFill>
                <a:latin typeface="Arial"/>
                <a:ea typeface="Arial"/>
                <a:cs typeface="Arial"/>
              </a:rPr>
              <a:t>Inspect the map</a:t>
            </a:r>
          </a:p>
        </p:txBody>
      </p:sp>
      <p:sp>
        <p:nvSpPr>
          <p:cNvPr id="15" name="workflow-detail-1">
            <a:extLst xmlns:a="http://schemas.openxmlformats.org/drawingml/2006/main">
              <a:ext uri="{FF2B5EF4-FFF2-40B4-BE49-F238E27FC236}">
                <a16:creationId xmlns:a16="http://schemas.microsoft.com/office/drawing/2014/main" id="{49DCBCF6-1A4A-44F8-AF88-47FAF36B0B68}"/>
              </a:ext>
            </a:extLst>
          </p:cNvPr>
          <p:cNvSpPr>
            <a:spLocks xmlns:a="http://schemas.openxmlformats.org/drawingml/2006/main" noGrp="1"/>
          </p:cNvSpPr>
          <p:nvPr/>
        </p:nvSpPr>
        <p:spPr>
          <a:xfrm xmlns:a="http://schemas.openxmlformats.org/drawingml/2006/main">
            <a:off x="3857625" y="3962400"/>
            <a:ext cx="2238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7B2AD"/>
                </a:solidFill>
                <a:latin typeface="Arial"/>
                <a:ea typeface="Arial"/>
                <a:cs typeface="Arial"/>
              </a:defRPr>
            </a:defPPr>
          </a:lstStyle>
          <a:p xmlns:a="http://schemas.openxmlformats.org/drawingml/2006/main">
            <a:pPr algn="l">
              <a:defRPr sz="1575" b="0">
                <a:solidFill>
                  <a:srgbClr val="A7B2AD"/>
                </a:solidFill>
                <a:latin typeface="Arial"/>
                <a:ea typeface="Arial"/>
                <a:cs typeface="Arial"/>
              </a:defRPr>
            </a:pPr>
            <a:r>
              <a:rPr sz="1575" b="0">
                <a:solidFill>
                  <a:srgbClr val="A7B2AD"/>
                </a:solidFill>
                <a:latin typeface="Arial"/>
                <a:ea typeface="Arial"/>
                <a:cs typeface="Arial"/>
              </a:rPr>
              <a:t>See mapped locations and selected overlays</a:t>
            </a:r>
          </a:p>
        </p:txBody>
      </p:sp>
      <p:sp>
        <p:nvSpPr>
          <p:cNvPr id="16" name="workflow-line-1">
            <a:extLst xmlns:a="http://schemas.openxmlformats.org/drawingml/2006/main">
              <a:ext uri="{FF2B5EF4-FFF2-40B4-BE49-F238E27FC236}">
                <a16:creationId xmlns:a16="http://schemas.microsoft.com/office/drawing/2014/main" id="{CC614E2B-9AA5-444D-99B5-F3991670F996}"/>
              </a:ext>
            </a:extLst>
          </p:cNvPr>
          <p:cNvSpPr>
            <a:spLocks xmlns:a="http://schemas.openxmlformats.org/drawingml/2006/main" noGrp="1"/>
          </p:cNvSpPr>
          <p:nvPr/>
        </p:nvSpPr>
        <p:spPr>
          <a:xfrm xmlns:a="http://schemas.openxmlformats.org/drawingml/2006/main">
            <a:off x="6172200" y="3657600"/>
            <a:ext cx="266700" cy="19050"/>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17" name="workflow-accent-2">
            <a:extLst xmlns:a="http://schemas.openxmlformats.org/drawingml/2006/main">
              <a:ext uri="{FF2B5EF4-FFF2-40B4-BE49-F238E27FC236}">
                <a16:creationId xmlns:a16="http://schemas.microsoft.com/office/drawing/2014/main" id="{9E3F7688-3AE1-46D8-AA99-B91041DAD2DD}"/>
              </a:ext>
            </a:extLst>
          </p:cNvPr>
          <p:cNvSpPr>
            <a:spLocks xmlns:a="http://schemas.openxmlformats.org/drawingml/2006/main" noGrp="1"/>
          </p:cNvSpPr>
          <p:nvPr/>
        </p:nvSpPr>
        <p:spPr>
          <a:xfrm xmlns:a="http://schemas.openxmlformats.org/drawingml/2006/main">
            <a:off x="6524625" y="2686050"/>
            <a:ext cx="76200" cy="2019300"/>
          </a:xfrm>
          <a:prstGeom xmlns:a="http://schemas.openxmlformats.org/drawingml/2006/main" prst="rect">
            <a:avLst/>
          </a:prstGeom>
          <a:solidFill xmlns:a="http://schemas.openxmlformats.org/drawingml/2006/main">
            <a:srgbClr val="87B49C"/>
          </a:solidFill>
          <a:ln xmlns:a="http://schemas.openxmlformats.org/drawingml/2006/main" w="0">
            <a:noFill/>
            <a:prstDash val="solid"/>
          </a:ln>
        </p:spPr>
      </p:sp>
      <p:sp>
        <p:nvSpPr>
          <p:cNvPr id="18" name="workflow-number-2">
            <a:extLst xmlns:a="http://schemas.openxmlformats.org/drawingml/2006/main">
              <a:ext uri="{FF2B5EF4-FFF2-40B4-BE49-F238E27FC236}">
                <a16:creationId xmlns:a16="http://schemas.microsoft.com/office/drawing/2014/main" id="{B6DEAD90-1A4A-4B51-BC92-9612077D0DEB}"/>
              </a:ext>
            </a:extLst>
          </p:cNvPr>
          <p:cNvSpPr>
            <a:spLocks xmlns:a="http://schemas.openxmlformats.org/drawingml/2006/main" noGrp="1"/>
          </p:cNvSpPr>
          <p:nvPr/>
        </p:nvSpPr>
        <p:spPr>
          <a:xfrm xmlns:a="http://schemas.openxmlformats.org/drawingml/2006/main">
            <a:off x="6762750" y="268605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E2B85D"/>
                </a:solidFill>
                <a:latin typeface="Arial"/>
                <a:ea typeface="Arial"/>
                <a:cs typeface="Arial"/>
              </a:defRPr>
            </a:defPPr>
          </a:lstStyle>
          <a:p xmlns:a="http://schemas.openxmlformats.org/drawingml/2006/main">
            <a:pPr algn="l">
              <a:defRPr sz="1575" b="1">
                <a:solidFill>
                  <a:srgbClr val="E2B85D"/>
                </a:solidFill>
                <a:latin typeface="Arial"/>
                <a:ea typeface="Arial"/>
                <a:cs typeface="Arial"/>
              </a:defRPr>
            </a:pPr>
            <a:r>
              <a:rPr sz="1575" b="1">
                <a:solidFill>
                  <a:srgbClr val="E2B85D"/>
                </a:solidFill>
                <a:latin typeface="Arial"/>
                <a:ea typeface="Arial"/>
                <a:cs typeface="Arial"/>
              </a:rPr>
              <a:t>03</a:t>
            </a:r>
          </a:p>
        </p:txBody>
      </p:sp>
      <p:sp>
        <p:nvSpPr>
          <p:cNvPr id="19" name="workflow-title-2">
            <a:extLst xmlns:a="http://schemas.openxmlformats.org/drawingml/2006/main">
              <a:ext uri="{FF2B5EF4-FFF2-40B4-BE49-F238E27FC236}">
                <a16:creationId xmlns:a16="http://schemas.microsoft.com/office/drawing/2014/main" id="{57D854BD-D7D2-45DF-B510-2BA7891AC359}"/>
              </a:ext>
            </a:extLst>
          </p:cNvPr>
          <p:cNvSpPr>
            <a:spLocks xmlns:a="http://schemas.openxmlformats.org/drawingml/2006/main" noGrp="1"/>
          </p:cNvSpPr>
          <p:nvPr/>
        </p:nvSpPr>
        <p:spPr>
          <a:xfrm xmlns:a="http://schemas.openxmlformats.org/drawingml/2006/main">
            <a:off x="6762750" y="318135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F3F0E6"/>
                </a:solidFill>
                <a:latin typeface="Arial"/>
                <a:ea typeface="Arial"/>
                <a:cs typeface="Arial"/>
              </a:defRPr>
            </a:defPPr>
          </a:lstStyle>
          <a:p xmlns:a="http://schemas.openxmlformats.org/drawingml/2006/main">
            <a:pPr algn="l">
              <a:defRPr sz="2100" b="1">
                <a:solidFill>
                  <a:srgbClr val="F3F0E6"/>
                </a:solidFill>
                <a:latin typeface="Arial"/>
                <a:ea typeface="Arial"/>
                <a:cs typeface="Arial"/>
              </a:defRPr>
            </a:pPr>
            <a:r>
              <a:rPr sz="2100" b="1">
                <a:solidFill>
                  <a:srgbClr val="F3F0E6"/>
                </a:solidFill>
                <a:latin typeface="Arial"/>
                <a:ea typeface="Arial"/>
                <a:cs typeface="Arial"/>
              </a:rPr>
              <a:t>Compare options</a:t>
            </a:r>
          </a:p>
        </p:txBody>
      </p:sp>
      <p:sp>
        <p:nvSpPr>
          <p:cNvPr id="20" name="workflow-detail-2">
            <a:extLst xmlns:a="http://schemas.openxmlformats.org/drawingml/2006/main">
              <a:ext uri="{FF2B5EF4-FFF2-40B4-BE49-F238E27FC236}">
                <a16:creationId xmlns:a16="http://schemas.microsoft.com/office/drawing/2014/main" id="{3483689F-CE52-4BFE-8B06-65A60E6DC726}"/>
              </a:ext>
            </a:extLst>
          </p:cNvPr>
          <p:cNvSpPr>
            <a:spLocks xmlns:a="http://schemas.openxmlformats.org/drawingml/2006/main" noGrp="1"/>
          </p:cNvSpPr>
          <p:nvPr/>
        </p:nvSpPr>
        <p:spPr>
          <a:xfrm xmlns:a="http://schemas.openxmlformats.org/drawingml/2006/main">
            <a:off x="6762750" y="3962400"/>
            <a:ext cx="2238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7B2AD"/>
                </a:solidFill>
                <a:latin typeface="Arial"/>
                <a:ea typeface="Arial"/>
                <a:cs typeface="Arial"/>
              </a:defRPr>
            </a:defPPr>
          </a:lstStyle>
          <a:p xmlns:a="http://schemas.openxmlformats.org/drawingml/2006/main">
            <a:pPr algn="l">
              <a:defRPr sz="1575" b="0">
                <a:solidFill>
                  <a:srgbClr val="A7B2AD"/>
                </a:solidFill>
                <a:latin typeface="Arial"/>
                <a:ea typeface="Arial"/>
                <a:cs typeface="Arial"/>
              </a:defRPr>
            </a:pPr>
            <a:r>
              <a:rPr sz="1575" b="0">
                <a:solidFill>
                  <a:srgbClr val="A7B2AD"/>
                </a:solidFill>
                <a:latin typeface="Arial"/>
                <a:ea typeface="Arial"/>
                <a:cs typeface="Arial"/>
              </a:rPr>
              <a:t>Review routes, quantities, costs and assumptions</a:t>
            </a:r>
          </a:p>
        </p:txBody>
      </p:sp>
      <p:sp>
        <p:nvSpPr>
          <p:cNvPr id="21" name="workflow-line-2">
            <a:extLst xmlns:a="http://schemas.openxmlformats.org/drawingml/2006/main">
              <a:ext uri="{FF2B5EF4-FFF2-40B4-BE49-F238E27FC236}">
                <a16:creationId xmlns:a16="http://schemas.microsoft.com/office/drawing/2014/main" id="{F2D89703-5B02-446F-8408-DAB745D468E6}"/>
              </a:ext>
            </a:extLst>
          </p:cNvPr>
          <p:cNvSpPr>
            <a:spLocks xmlns:a="http://schemas.openxmlformats.org/drawingml/2006/main" noGrp="1"/>
          </p:cNvSpPr>
          <p:nvPr/>
        </p:nvSpPr>
        <p:spPr>
          <a:xfrm xmlns:a="http://schemas.openxmlformats.org/drawingml/2006/main">
            <a:off x="9077325" y="3657600"/>
            <a:ext cx="266700" cy="19050"/>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22" name="workflow-accent-3">
            <a:extLst xmlns:a="http://schemas.openxmlformats.org/drawingml/2006/main">
              <a:ext uri="{FF2B5EF4-FFF2-40B4-BE49-F238E27FC236}">
                <a16:creationId xmlns:a16="http://schemas.microsoft.com/office/drawing/2014/main" id="{BB8D2D6E-5A61-468E-A3BB-7A10F66130F9}"/>
              </a:ext>
            </a:extLst>
          </p:cNvPr>
          <p:cNvSpPr>
            <a:spLocks xmlns:a="http://schemas.openxmlformats.org/drawingml/2006/main" noGrp="1"/>
          </p:cNvSpPr>
          <p:nvPr/>
        </p:nvSpPr>
        <p:spPr>
          <a:xfrm xmlns:a="http://schemas.openxmlformats.org/drawingml/2006/main">
            <a:off x="9429750" y="2686050"/>
            <a:ext cx="76200" cy="2019300"/>
          </a:xfrm>
          <a:prstGeom xmlns:a="http://schemas.openxmlformats.org/drawingml/2006/main" prst="rect">
            <a:avLst/>
          </a:prstGeom>
          <a:solidFill xmlns:a="http://schemas.openxmlformats.org/drawingml/2006/main">
            <a:srgbClr val="87B49C"/>
          </a:solidFill>
          <a:ln xmlns:a="http://schemas.openxmlformats.org/drawingml/2006/main" w="0">
            <a:noFill/>
            <a:prstDash val="solid"/>
          </a:ln>
        </p:spPr>
      </p:sp>
      <p:sp>
        <p:nvSpPr>
          <p:cNvPr id="23" name="workflow-number-3">
            <a:extLst xmlns:a="http://schemas.openxmlformats.org/drawingml/2006/main">
              <a:ext uri="{FF2B5EF4-FFF2-40B4-BE49-F238E27FC236}">
                <a16:creationId xmlns:a16="http://schemas.microsoft.com/office/drawing/2014/main" id="{85462929-4041-4065-B5D2-7AEC6A6412E1}"/>
              </a:ext>
            </a:extLst>
          </p:cNvPr>
          <p:cNvSpPr>
            <a:spLocks xmlns:a="http://schemas.openxmlformats.org/drawingml/2006/main" noGrp="1"/>
          </p:cNvSpPr>
          <p:nvPr/>
        </p:nvSpPr>
        <p:spPr>
          <a:xfrm xmlns:a="http://schemas.openxmlformats.org/drawingml/2006/main">
            <a:off x="9667875" y="268605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E2B85D"/>
                </a:solidFill>
                <a:latin typeface="Arial"/>
                <a:ea typeface="Arial"/>
                <a:cs typeface="Arial"/>
              </a:defRPr>
            </a:defPPr>
          </a:lstStyle>
          <a:p xmlns:a="http://schemas.openxmlformats.org/drawingml/2006/main">
            <a:pPr algn="l">
              <a:defRPr sz="1575" b="1">
                <a:solidFill>
                  <a:srgbClr val="E2B85D"/>
                </a:solidFill>
                <a:latin typeface="Arial"/>
                <a:ea typeface="Arial"/>
                <a:cs typeface="Arial"/>
              </a:defRPr>
            </a:pPr>
            <a:r>
              <a:rPr sz="1575" b="1">
                <a:solidFill>
                  <a:srgbClr val="E2B85D"/>
                </a:solidFill>
                <a:latin typeface="Arial"/>
                <a:ea typeface="Arial"/>
                <a:cs typeface="Arial"/>
              </a:rPr>
              <a:t>04</a:t>
            </a:r>
          </a:p>
        </p:txBody>
      </p:sp>
      <p:sp>
        <p:nvSpPr>
          <p:cNvPr id="24" name="workflow-title-3">
            <a:extLst xmlns:a="http://schemas.openxmlformats.org/drawingml/2006/main">
              <a:ext uri="{FF2B5EF4-FFF2-40B4-BE49-F238E27FC236}">
                <a16:creationId xmlns:a16="http://schemas.microsoft.com/office/drawing/2014/main" id="{94D52AAF-361E-45A1-AD63-E1E1A96E88A8}"/>
              </a:ext>
            </a:extLst>
          </p:cNvPr>
          <p:cNvSpPr>
            <a:spLocks xmlns:a="http://schemas.openxmlformats.org/drawingml/2006/main" noGrp="1"/>
          </p:cNvSpPr>
          <p:nvPr/>
        </p:nvSpPr>
        <p:spPr>
          <a:xfrm xmlns:a="http://schemas.openxmlformats.org/drawingml/2006/main">
            <a:off x="9667875" y="318135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F3F0E6"/>
                </a:solidFill>
                <a:latin typeface="Arial"/>
                <a:ea typeface="Arial"/>
                <a:cs typeface="Arial"/>
              </a:defRPr>
            </a:defPPr>
          </a:lstStyle>
          <a:p xmlns:a="http://schemas.openxmlformats.org/drawingml/2006/main">
            <a:pPr algn="l">
              <a:defRPr sz="2100" b="1">
                <a:solidFill>
                  <a:srgbClr val="F3F0E6"/>
                </a:solidFill>
                <a:latin typeface="Arial"/>
                <a:ea typeface="Arial"/>
                <a:cs typeface="Arial"/>
              </a:defRPr>
            </a:pPr>
            <a:r>
              <a:rPr sz="2100" b="1">
                <a:solidFill>
                  <a:srgbClr val="F3F0E6"/>
                </a:solidFill>
                <a:latin typeface="Arial"/>
                <a:ea typeface="Arial"/>
                <a:cs typeface="Arial"/>
              </a:rPr>
              <a:t>Track a check</a:t>
            </a:r>
          </a:p>
        </p:txBody>
      </p:sp>
      <p:sp>
        <p:nvSpPr>
          <p:cNvPr id="25" name="workflow-detail-3">
            <a:extLst xmlns:a="http://schemas.openxmlformats.org/drawingml/2006/main">
              <a:ext uri="{FF2B5EF4-FFF2-40B4-BE49-F238E27FC236}">
                <a16:creationId xmlns:a16="http://schemas.microsoft.com/office/drawing/2014/main" id="{1032C5F9-4EDD-4E20-B19C-862170D1D25C}"/>
              </a:ext>
            </a:extLst>
          </p:cNvPr>
          <p:cNvSpPr>
            <a:spLocks xmlns:a="http://schemas.openxmlformats.org/drawingml/2006/main" noGrp="1"/>
          </p:cNvSpPr>
          <p:nvPr/>
        </p:nvSpPr>
        <p:spPr>
          <a:xfrm xmlns:a="http://schemas.openxmlformats.org/drawingml/2006/main">
            <a:off x="9667875" y="3962400"/>
            <a:ext cx="2238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7B2AD"/>
                </a:solidFill>
                <a:latin typeface="Arial"/>
                <a:ea typeface="Arial"/>
                <a:cs typeface="Arial"/>
              </a:defRPr>
            </a:defPPr>
          </a:lstStyle>
          <a:p xmlns:a="http://schemas.openxmlformats.org/drawingml/2006/main">
            <a:pPr algn="l">
              <a:defRPr sz="1575" b="0">
                <a:solidFill>
                  <a:srgbClr val="A7B2AD"/>
                </a:solidFill>
                <a:latin typeface="Arial"/>
                <a:ea typeface="Arial"/>
                <a:cs typeface="Arial"/>
              </a:defRPr>
            </a:pPr>
            <a:r>
              <a:rPr sz="1575" b="0">
                <a:solidFill>
                  <a:srgbClr val="A7B2AD"/>
                </a:solidFill>
                <a:latin typeface="Arial"/>
                <a:ea typeface="Arial"/>
                <a:cs typeface="Arial"/>
              </a:rPr>
              <a:t>Keep map-linked review tasks and status</a:t>
            </a:r>
          </a:p>
        </p:txBody>
      </p:sp>
      <p:sp>
        <p:nvSpPr>
          <p:cNvPr id="26" name="workflow-note">
            <a:extLst xmlns:a="http://schemas.openxmlformats.org/drawingml/2006/main">
              <a:ext uri="{FF2B5EF4-FFF2-40B4-BE49-F238E27FC236}">
                <a16:creationId xmlns:a16="http://schemas.microsoft.com/office/drawing/2014/main" id="{68495C8F-E959-4EBE-BF55-85CE0B5B2DD1}"/>
              </a:ext>
            </a:extLst>
          </p:cNvPr>
          <p:cNvSpPr>
            <a:spLocks xmlns:a="http://schemas.openxmlformats.org/drawingml/2006/main" noGrp="1"/>
          </p:cNvSpPr>
          <p:nvPr/>
        </p:nvSpPr>
        <p:spPr>
          <a:xfrm xmlns:a="http://schemas.openxmlformats.org/drawingml/2006/main">
            <a:off x="609600" y="5467350"/>
            <a:ext cx="1019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87B49C"/>
                </a:solidFill>
                <a:latin typeface="Arial"/>
                <a:ea typeface="Arial"/>
                <a:cs typeface="Arial"/>
              </a:defRPr>
            </a:defPPr>
          </a:lstStyle>
          <a:p xmlns:a="http://schemas.openxmlformats.org/drawingml/2006/main">
            <a:pPr algn="l">
              <a:defRPr sz="1650" b="1">
                <a:solidFill>
                  <a:srgbClr val="87B49C"/>
                </a:solidFill>
                <a:latin typeface="Arial"/>
                <a:ea typeface="Arial"/>
                <a:cs typeface="Arial"/>
              </a:defRPr>
            </a:pPr>
            <a:r>
              <a:rPr sz="1650" b="1">
                <a:solidFill>
                  <a:srgbClr val="87B49C"/>
                </a:solidFill>
                <a:latin typeface="Arial"/>
                <a:ea typeface="Arial"/>
                <a:cs typeface="Arial"/>
              </a:rPr>
              <a:t>The map is the shared view; calculations and data limits stay attached to each result.</a:t>
            </a:r>
          </a:p>
        </p:txBody>
      </p:sp>
    </p:spTree>
    <p:extLst>
      <p:ext uri="{BB962C8B-B14F-4D97-AF65-F5344CB8AC3E}">
        <p14:creationId xmlns:p14="http://schemas.microsoft.com/office/powerpoint/2010/main" val="1864794227"/>
      </p:ext>
    </p:extLst>
  </p:cSld>
</p:sld>
</file>

<file path=ppt/slides/slide4.xml><?xml version="1.0" encoding="utf-8"?>
<p:sld xmlns:p="http://schemas.openxmlformats.org/presentationml/2006/main">
  <p:cSld>
    <p:bg>
      <p:bgPr>
        <a:solidFill xmlns:a="http://schemas.openxmlformats.org/drawingml/2006/main">
          <a:srgbClr val="101B1F"/>
        </a:solidFill>
      </p:bgPr>
    </p:bg>
    <p:spTree>
      <p:nvGrpSpPr>
        <p:cNvPr id="1" name=""/>
        <p:cNvGrpSpPr/>
        <p:nvPr/>
      </p:nvGrpSpPr>
      <p:grpSpPr>
        <a:xfrm xmlns:a="http://schemas.openxmlformats.org/drawingml/2006/main"/>
      </p:grpSpPr>
      <p:sp>
        <p:nvSpPr>
          <p:cNvPr id="18" name="kicker-4">
            <a:extLst xmlns:a="http://schemas.openxmlformats.org/drawingml/2006/main">
              <a:ext uri="{FF2B5EF4-FFF2-40B4-BE49-F238E27FC236}">
                <a16:creationId xmlns:a16="http://schemas.microsoft.com/office/drawing/2014/main" id="{59617B69-ED62-4C8F-8387-7DFDE432886D}"/>
              </a:ext>
            </a:extLst>
          </p:cNvPr>
          <p:cNvSpPr>
            <a:spLocks xmlns:a="http://schemas.openxmlformats.org/drawingml/2006/main" noGrp="1"/>
          </p:cNvSpPr>
          <p:nvPr/>
        </p:nvSpPr>
        <p:spPr>
          <a:xfrm xmlns:a="http://schemas.openxmlformats.org/drawingml/2006/main">
            <a:off x="609600" y="400050"/>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2B85D"/>
                </a:solidFill>
                <a:latin typeface="Arial"/>
                <a:ea typeface="Arial"/>
                <a:cs typeface="Arial"/>
              </a:defRPr>
            </a:defPPr>
          </a:lstStyle>
          <a:p xmlns:a="http://schemas.openxmlformats.org/drawingml/2006/main">
            <a:pPr algn="l">
              <a:defRPr sz="1125" b="1">
                <a:solidFill>
                  <a:srgbClr val="E2B85D"/>
                </a:solidFill>
                <a:latin typeface="Arial"/>
                <a:ea typeface="Arial"/>
                <a:cs typeface="Arial"/>
              </a:defRPr>
            </a:pPr>
            <a:r>
              <a:rPr sz="1125" b="1">
                <a:solidFill>
                  <a:srgbClr val="E2B85D"/>
                </a:solidFill>
                <a:latin typeface="Arial"/>
                <a:ea typeface="Arial"/>
                <a:cs typeface="Arial"/>
              </a:rPr>
              <a:t>WORKING PROTOTYPE</a:t>
            </a:r>
          </a:p>
        </p:txBody>
      </p:sp>
      <p:sp>
        <p:nvSpPr>
          <p:cNvPr id="2" name="title-4">
            <a:extLst xmlns:a="http://schemas.openxmlformats.org/drawingml/2006/main">
              <a:ext uri="{FF2B5EF4-FFF2-40B4-BE49-F238E27FC236}">
                <a16:creationId xmlns:a16="http://schemas.microsoft.com/office/drawing/2014/main" id="{FA7314C8-C9E4-47AE-BEDE-486394C51446}"/>
              </a:ext>
            </a:extLst>
          </p:cNvPr>
          <p:cNvSpPr>
            <a:spLocks xmlns:a="http://schemas.openxmlformats.org/drawingml/2006/main" noGrp="1"/>
          </p:cNvSpPr>
          <p:nvPr/>
        </p:nvSpPr>
        <p:spPr>
          <a:xfrm xmlns:a="http://schemas.openxmlformats.org/drawingml/2006/main">
            <a:off x="609600" y="7429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F3F0E6"/>
                </a:solidFill>
                <a:latin typeface="Arial"/>
                <a:ea typeface="Arial"/>
                <a:cs typeface="Arial"/>
              </a:defRPr>
            </a:defPPr>
          </a:lstStyle>
          <a:p xmlns:a="http://schemas.openxmlformats.org/drawingml/2006/main">
            <a:pPr algn="l">
              <a:defRPr sz="4050" b="1">
                <a:solidFill>
                  <a:srgbClr val="F3F0E6"/>
                </a:solidFill>
                <a:latin typeface="Arial"/>
                <a:ea typeface="Arial"/>
                <a:cs typeface="Arial"/>
              </a:defRPr>
            </a:pPr>
            <a:r>
              <a:rPr sz="4050" b="1">
                <a:solidFill>
                  <a:srgbClr val="F3F0E6"/>
                </a:solidFill>
                <a:latin typeface="Arial"/>
                <a:ea typeface="Arial"/>
                <a:cs typeface="Arial"/>
              </a:rPr>
              <a:t>What judges can test today</a:t>
            </a:r>
          </a:p>
        </p:txBody>
      </p:sp>
      <p:sp>
        <p:nvSpPr>
          <p:cNvPr id="3" name="footer-rule-4">
            <a:extLst xmlns:a="http://schemas.openxmlformats.org/drawingml/2006/main">
              <a:ext uri="{FF2B5EF4-FFF2-40B4-BE49-F238E27FC236}">
                <a16:creationId xmlns:a16="http://schemas.microsoft.com/office/drawing/2014/main" id="{F9C6BC5D-E6E7-41B5-8E7F-43CF7BE22240}"/>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4" name="footer-name-4">
            <a:extLst xmlns:a="http://schemas.openxmlformats.org/drawingml/2006/main">
              <a:ext uri="{FF2B5EF4-FFF2-40B4-BE49-F238E27FC236}">
                <a16:creationId xmlns:a16="http://schemas.microsoft.com/office/drawing/2014/main" id="{D45C7E14-7B1B-4129-BE95-0DFA813B4296}"/>
              </a:ext>
            </a:extLst>
          </p:cNvPr>
          <p:cNvSpPr>
            <a:spLocks xmlns:a="http://schemas.openxmlformats.org/drawingml/2006/main" noGrp="1"/>
          </p:cNvSpPr>
          <p:nvPr/>
        </p:nvSpPr>
        <p:spPr>
          <a:xfrm xmlns:a="http://schemas.openxmlformats.org/drawingml/2006/main">
            <a:off x="609600" y="6496050"/>
            <a:ext cx="628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A7B2AD"/>
                </a:solidFill>
                <a:latin typeface="Arial"/>
                <a:ea typeface="Arial"/>
                <a:cs typeface="Arial"/>
              </a:defRPr>
            </a:defPPr>
          </a:lstStyle>
          <a:p xmlns:a="http://schemas.openxmlformats.org/drawingml/2006/main">
            <a:pPr algn="l">
              <a:defRPr sz="975" b="1">
                <a:solidFill>
                  <a:srgbClr val="A7B2AD"/>
                </a:solidFill>
                <a:latin typeface="Arial"/>
                <a:ea typeface="Arial"/>
                <a:cs typeface="Arial"/>
              </a:defRPr>
            </a:pPr>
            <a:r>
              <a:rPr sz="975" b="1">
                <a:solidFill>
                  <a:srgbClr val="A7B2AD"/>
                </a:solidFill>
                <a:latin typeface="Arial"/>
                <a:ea typeface="Arial"/>
                <a:cs typeface="Arial"/>
              </a:rPr>
              <a:t>BHARAT YANTRA  ·  MUMBAI F/S WARD</a:t>
            </a:r>
          </a:p>
        </p:txBody>
      </p:sp>
      <p:sp>
        <p:nvSpPr>
          <p:cNvPr id="5" name="footer-page-4">
            <a:extLst xmlns:a="http://schemas.openxmlformats.org/drawingml/2006/main">
              <a:ext uri="{FF2B5EF4-FFF2-40B4-BE49-F238E27FC236}">
                <a16:creationId xmlns:a16="http://schemas.microsoft.com/office/drawing/2014/main" id="{0F21CD7C-D6D0-43ED-B73A-862041958FB8}"/>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E2B85D"/>
                </a:solidFill>
                <a:latin typeface="Arial"/>
                <a:ea typeface="Arial"/>
                <a:cs typeface="Arial"/>
              </a:defRPr>
            </a:defPPr>
          </a:lstStyle>
          <a:p xmlns:a="http://schemas.openxmlformats.org/drawingml/2006/main">
            <a:pPr algn="r">
              <a:defRPr sz="975" b="1">
                <a:solidFill>
                  <a:srgbClr val="E2B85D"/>
                </a:solidFill>
                <a:latin typeface="Arial"/>
                <a:ea typeface="Arial"/>
                <a:cs typeface="Arial"/>
              </a:defRPr>
            </a:pPr>
            <a:r>
              <a:rPr sz="975" b="1">
                <a:solidFill>
                  <a:srgbClr val="E2B85D"/>
                </a:solidFill>
                <a:latin typeface="Arial"/>
                <a:ea typeface="Arial"/>
                <a:cs typeface="Arial"/>
              </a:rPr>
              <a:t>04 / 07</a:t>
            </a:r>
          </a:p>
        </p:txBody>
      </p:sp>
      <p:sp>
        <p:nvSpPr>
          <p:cNvPr id="6" name="demo-column-rule">
            <a:extLst xmlns:a="http://schemas.openxmlformats.org/drawingml/2006/main">
              <a:ext uri="{FF2B5EF4-FFF2-40B4-BE49-F238E27FC236}">
                <a16:creationId xmlns:a16="http://schemas.microsoft.com/office/drawing/2014/main" id="{E100B9A2-54A0-4F38-B136-3B73E49055F6}"/>
              </a:ext>
            </a:extLst>
          </p:cNvPr>
          <p:cNvSpPr>
            <a:spLocks xmlns:a="http://schemas.openxmlformats.org/drawingml/2006/main" noGrp="1"/>
          </p:cNvSpPr>
          <p:nvPr/>
        </p:nvSpPr>
        <p:spPr>
          <a:xfrm xmlns:a="http://schemas.openxmlformats.org/drawingml/2006/main">
            <a:off x="6076950" y="1752600"/>
            <a:ext cx="19050" cy="3695700"/>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7" name="demo-rain-label">
            <a:extLst xmlns:a="http://schemas.openxmlformats.org/drawingml/2006/main">
              <a:ext uri="{FF2B5EF4-FFF2-40B4-BE49-F238E27FC236}">
                <a16:creationId xmlns:a16="http://schemas.microsoft.com/office/drawing/2014/main" id="{9A2338A3-0E8F-45E4-BAF4-977B2221BB2E}"/>
              </a:ext>
            </a:extLst>
          </p:cNvPr>
          <p:cNvSpPr>
            <a:spLocks xmlns:a="http://schemas.openxmlformats.org/drawingml/2006/main" noGrp="1"/>
          </p:cNvSpPr>
          <p:nvPr/>
        </p:nvSpPr>
        <p:spPr>
          <a:xfrm xmlns:a="http://schemas.openxmlformats.org/drawingml/2006/main">
            <a:off x="609600" y="18097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E2B85D"/>
                </a:solidFill>
                <a:latin typeface="Arial"/>
                <a:ea typeface="Arial"/>
                <a:cs typeface="Arial"/>
              </a:defRPr>
            </a:defPPr>
          </a:lstStyle>
          <a:p xmlns:a="http://schemas.openxmlformats.org/drawingml/2006/main">
            <a:pPr algn="l">
              <a:defRPr sz="1275" b="1">
                <a:solidFill>
                  <a:srgbClr val="E2B85D"/>
                </a:solidFill>
                <a:latin typeface="Arial"/>
                <a:ea typeface="Arial"/>
                <a:cs typeface="Arial"/>
              </a:defRPr>
            </a:pPr>
            <a:r>
              <a:rPr sz="1275" b="1">
                <a:solidFill>
                  <a:srgbClr val="E2B85D"/>
                </a:solidFill>
                <a:latin typeface="Arial"/>
                <a:ea typeface="Arial"/>
                <a:cs typeface="Arial"/>
              </a:rPr>
              <a:t>RAINFALL SCREENING</a:t>
            </a:r>
          </a:p>
        </p:txBody>
      </p:sp>
      <p:sp>
        <p:nvSpPr>
          <p:cNvPr id="8" name="demo-rain-input">
            <a:extLst xmlns:a="http://schemas.openxmlformats.org/drawingml/2006/main">
              <a:ext uri="{FF2B5EF4-FFF2-40B4-BE49-F238E27FC236}">
                <a16:creationId xmlns:a16="http://schemas.microsoft.com/office/drawing/2014/main" id="{14E66BB0-ACAE-41C4-8289-45343C8ECC8B}"/>
              </a:ext>
            </a:extLst>
          </p:cNvPr>
          <p:cNvSpPr>
            <a:spLocks xmlns:a="http://schemas.openxmlformats.org/drawingml/2006/main" noGrp="1"/>
          </p:cNvSpPr>
          <p:nvPr/>
        </p:nvSpPr>
        <p:spPr>
          <a:xfrm xmlns:a="http://schemas.openxmlformats.org/drawingml/2006/main">
            <a:off x="609600" y="23241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F3F0E6"/>
                </a:solidFill>
                <a:latin typeface="Arial"/>
                <a:ea typeface="Arial"/>
                <a:cs typeface="Arial"/>
              </a:defRPr>
            </a:defPPr>
          </a:lstStyle>
          <a:p xmlns:a="http://schemas.openxmlformats.org/drawingml/2006/main">
            <a:pPr algn="l">
              <a:defRPr sz="2550" b="1">
                <a:solidFill>
                  <a:srgbClr val="F3F0E6"/>
                </a:solidFill>
                <a:latin typeface="Arial"/>
                <a:ea typeface="Arial"/>
                <a:cs typeface="Arial"/>
              </a:defRPr>
            </a:pPr>
            <a:r>
              <a:rPr sz="2550" b="1">
                <a:solidFill>
                  <a:srgbClr val="F3F0E6"/>
                </a:solidFill>
                <a:latin typeface="Arial"/>
                <a:ea typeface="Arial"/>
                <a:cs typeface="Arial"/>
              </a:rPr>
              <a:t>150 mm  ·  8 hours</a:t>
            </a:r>
          </a:p>
        </p:txBody>
      </p:sp>
      <p:sp>
        <p:nvSpPr>
          <p:cNvPr id="9" name="demo-rain-result">
            <a:extLst xmlns:a="http://schemas.openxmlformats.org/drawingml/2006/main">
              <a:ext uri="{FF2B5EF4-FFF2-40B4-BE49-F238E27FC236}">
                <a16:creationId xmlns:a16="http://schemas.microsoft.com/office/drawing/2014/main" id="{156BE864-3794-4F4E-B5EE-DCDF8BD5C3A2}"/>
              </a:ext>
            </a:extLst>
          </p:cNvPr>
          <p:cNvSpPr>
            <a:spLocks xmlns:a="http://schemas.openxmlformats.org/drawingml/2006/main" noGrp="1"/>
          </p:cNvSpPr>
          <p:nvPr/>
        </p:nvSpPr>
        <p:spPr>
          <a:xfrm xmlns:a="http://schemas.openxmlformats.org/drawingml/2006/main">
            <a:off x="609600" y="308610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87B49C"/>
                </a:solidFill>
                <a:latin typeface="Arial"/>
                <a:ea typeface="Arial"/>
                <a:cs typeface="Arial"/>
              </a:defRPr>
            </a:defPPr>
          </a:lstStyle>
          <a:p xmlns:a="http://schemas.openxmlformats.org/drawingml/2006/main">
            <a:pPr algn="l">
              <a:defRPr sz="3900" b="1">
                <a:solidFill>
                  <a:srgbClr val="87B49C"/>
                </a:solidFill>
                <a:latin typeface="Arial"/>
                <a:ea typeface="Arial"/>
                <a:cs typeface="Arial"/>
              </a:defRPr>
            </a:pPr>
            <a:r>
              <a:rPr sz="3900" b="1">
                <a:solidFill>
                  <a:srgbClr val="87B49C"/>
                </a:solidFill>
                <a:latin typeface="Arial"/>
                <a:ea typeface="Arial"/>
                <a:cs typeface="Arial"/>
              </a:rPr>
              <a:t>1,444,631 m³</a:t>
            </a:r>
          </a:p>
        </p:txBody>
      </p:sp>
      <p:sp>
        <p:nvSpPr>
          <p:cNvPr id="10" name="demo-rain-description">
            <a:extLst xmlns:a="http://schemas.openxmlformats.org/drawingml/2006/main">
              <a:ext uri="{FF2B5EF4-FFF2-40B4-BE49-F238E27FC236}">
                <a16:creationId xmlns:a16="http://schemas.microsoft.com/office/drawing/2014/main" id="{001563E5-F205-49AF-9ABD-D2669B3C7FB2}"/>
              </a:ext>
            </a:extLst>
          </p:cNvPr>
          <p:cNvSpPr>
            <a:spLocks xmlns:a="http://schemas.openxmlformats.org/drawingml/2006/main" noGrp="1"/>
          </p:cNvSpPr>
          <p:nvPr/>
        </p:nvSpPr>
        <p:spPr>
          <a:xfrm xmlns:a="http://schemas.openxmlformats.org/drawingml/2006/main">
            <a:off x="609600" y="390525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7B2AD"/>
                </a:solidFill>
                <a:latin typeface="Arial"/>
                <a:ea typeface="Arial"/>
                <a:cs typeface="Arial"/>
              </a:defRPr>
            </a:defPPr>
          </a:lstStyle>
          <a:p xmlns:a="http://schemas.openxmlformats.org/drawingml/2006/main">
            <a:pPr algn="l">
              <a:defRPr sz="1650" b="0">
                <a:solidFill>
                  <a:srgbClr val="A7B2AD"/>
                </a:solidFill>
                <a:latin typeface="Arial"/>
                <a:ea typeface="Arial"/>
                <a:cs typeface="Arial"/>
              </a:defRPr>
            </a:pPr>
            <a:r>
              <a:rPr sz="1650" b="0">
                <a:solidFill>
                  <a:srgbClr val="A7B2AD"/>
                </a:solidFill>
                <a:latin typeface="Arial"/>
                <a:ea typeface="Arial"/>
                <a:cs typeface="Arial"/>
              </a:rPr>
              <a:t>Gross rain over the provisional ward area, assuming the entered depth falls uniformly everywhere.</a:t>
            </a:r>
          </a:p>
        </p:txBody>
      </p:sp>
      <p:sp>
        <p:nvSpPr>
          <p:cNvPr id="11" name="demo-rain-limit">
            <a:extLst xmlns:a="http://schemas.openxmlformats.org/drawingml/2006/main">
              <a:ext uri="{FF2B5EF4-FFF2-40B4-BE49-F238E27FC236}">
                <a16:creationId xmlns:a16="http://schemas.microsoft.com/office/drawing/2014/main" id="{4E03BE35-D82D-45FD-B1D8-7A6DA6110174}"/>
              </a:ext>
            </a:extLst>
          </p:cNvPr>
          <p:cNvSpPr>
            <a:spLocks xmlns:a="http://schemas.openxmlformats.org/drawingml/2006/main" noGrp="1"/>
          </p:cNvSpPr>
          <p:nvPr/>
        </p:nvSpPr>
        <p:spPr>
          <a:xfrm xmlns:a="http://schemas.openxmlformats.org/drawingml/2006/main">
            <a:off x="609600" y="4972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D88B79"/>
                </a:solidFill>
                <a:latin typeface="Arial"/>
                <a:ea typeface="Arial"/>
                <a:cs typeface="Arial"/>
              </a:defRPr>
            </a:defPPr>
          </a:lstStyle>
          <a:p xmlns:a="http://schemas.openxmlformats.org/drawingml/2006/main">
            <a:pPr algn="l">
              <a:defRPr sz="1350" b="1">
                <a:solidFill>
                  <a:srgbClr val="D88B79"/>
                </a:solidFill>
                <a:latin typeface="Arial"/>
                <a:ea typeface="Arial"/>
                <a:cs typeface="Arial"/>
              </a:defRPr>
            </a:pPr>
            <a:r>
              <a:rPr sz="1350" b="1">
                <a:solidFill>
                  <a:srgbClr val="D88B79"/>
                </a:solidFill>
                <a:latin typeface="Arial"/>
                <a:ea typeface="Arial"/>
                <a:cs typeface="Arial"/>
              </a:rPr>
              <a:t>Not runoff, flood depth, flood extent or affected homes.</a:t>
            </a:r>
          </a:p>
        </p:txBody>
      </p:sp>
      <p:sp>
        <p:nvSpPr>
          <p:cNvPr id="12" name="demo-access-label">
            <a:extLst xmlns:a="http://schemas.openxmlformats.org/drawingml/2006/main">
              <a:ext uri="{FF2B5EF4-FFF2-40B4-BE49-F238E27FC236}">
                <a16:creationId xmlns:a16="http://schemas.microsoft.com/office/drawing/2014/main" id="{38E81C7A-3019-41D4-AB26-3F5B9B8FB8D9}"/>
              </a:ext>
            </a:extLst>
          </p:cNvPr>
          <p:cNvSpPr>
            <a:spLocks xmlns:a="http://schemas.openxmlformats.org/drawingml/2006/main" noGrp="1"/>
          </p:cNvSpPr>
          <p:nvPr/>
        </p:nvSpPr>
        <p:spPr>
          <a:xfrm xmlns:a="http://schemas.openxmlformats.org/drawingml/2006/main">
            <a:off x="6553200" y="1809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E2B85D"/>
                </a:solidFill>
                <a:latin typeface="Arial"/>
                <a:ea typeface="Arial"/>
                <a:cs typeface="Arial"/>
              </a:defRPr>
            </a:defPPr>
          </a:lstStyle>
          <a:p xmlns:a="http://schemas.openxmlformats.org/drawingml/2006/main">
            <a:pPr algn="l">
              <a:defRPr sz="1275" b="1">
                <a:solidFill>
                  <a:srgbClr val="E2B85D"/>
                </a:solidFill>
                <a:latin typeface="Arial"/>
                <a:ea typeface="Arial"/>
                <a:cs typeface="Arial"/>
              </a:defRPr>
            </a:pPr>
            <a:r>
              <a:rPr sz="1275" b="1">
                <a:solidFill>
                  <a:srgbClr val="E2B85D"/>
                </a:solidFill>
                <a:latin typeface="Arial"/>
                <a:ea typeface="Arial"/>
                <a:cs typeface="Arial"/>
              </a:rPr>
              <a:t>HEALTH-FACILITY ACCESS</a:t>
            </a:r>
          </a:p>
        </p:txBody>
      </p:sp>
      <p:sp>
        <p:nvSpPr>
          <p:cNvPr id="13" name="demo-access-result">
            <a:extLst xmlns:a="http://schemas.openxmlformats.org/drawingml/2006/main">
              <a:ext uri="{FF2B5EF4-FFF2-40B4-BE49-F238E27FC236}">
                <a16:creationId xmlns:a16="http://schemas.microsoft.com/office/drawing/2014/main" id="{45025E7D-6E92-432E-9528-3ECD78578702}"/>
              </a:ext>
            </a:extLst>
          </p:cNvPr>
          <p:cNvSpPr>
            <a:spLocks xmlns:a="http://schemas.openxmlformats.org/drawingml/2006/main" noGrp="1"/>
          </p:cNvSpPr>
          <p:nvPr/>
        </p:nvSpPr>
        <p:spPr>
          <a:xfrm xmlns:a="http://schemas.openxmlformats.org/drawingml/2006/main">
            <a:off x="6553200" y="24003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F3F0E6"/>
                </a:solidFill>
                <a:latin typeface="Arial"/>
                <a:ea typeface="Arial"/>
                <a:cs typeface="Arial"/>
              </a:defRPr>
            </a:defPPr>
          </a:lstStyle>
          <a:p xmlns:a="http://schemas.openxmlformats.org/drawingml/2006/main">
            <a:pPr algn="l">
              <a:defRPr sz="2775" b="1">
                <a:solidFill>
                  <a:srgbClr val="F3F0E6"/>
                </a:solidFill>
                <a:latin typeface="Arial"/>
                <a:ea typeface="Arial"/>
                <a:cs typeface="Arial"/>
              </a:defRPr>
            </a:pPr>
            <a:r>
              <a:rPr sz="2775" b="1">
                <a:solidFill>
                  <a:srgbClr val="F3F0E6"/>
                </a:solidFill>
                <a:latin typeface="Arial"/>
                <a:ea typeface="Arial"/>
                <a:cs typeface="Arial"/>
              </a:rPr>
              <a:t>27 mapped features</a:t>
            </a:r>
          </a:p>
        </p:txBody>
      </p:sp>
      <p:sp>
        <p:nvSpPr>
          <p:cNvPr id="14" name="demo-access-distance">
            <a:extLst xmlns:a="http://schemas.openxmlformats.org/drawingml/2006/main">
              <a:ext uri="{FF2B5EF4-FFF2-40B4-BE49-F238E27FC236}">
                <a16:creationId xmlns:a16="http://schemas.microsoft.com/office/drawing/2014/main" id="{72C8EBE6-16E9-4C46-AD73-3DC176353F62}"/>
              </a:ext>
            </a:extLst>
          </p:cNvPr>
          <p:cNvSpPr>
            <a:spLocks xmlns:a="http://schemas.openxmlformats.org/drawingml/2006/main" noGrp="1"/>
          </p:cNvSpPr>
          <p:nvPr/>
        </p:nvSpPr>
        <p:spPr>
          <a:xfrm xmlns:a="http://schemas.openxmlformats.org/drawingml/2006/main">
            <a:off x="6553200" y="3143250"/>
            <a:ext cx="4762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87B49C"/>
                </a:solidFill>
                <a:latin typeface="Arial"/>
                <a:ea typeface="Arial"/>
                <a:cs typeface="Arial"/>
              </a:defRPr>
            </a:defPPr>
          </a:lstStyle>
          <a:p xmlns:a="http://schemas.openxmlformats.org/drawingml/2006/main">
            <a:pPr algn="l">
              <a:defRPr sz="4050" b="1">
                <a:solidFill>
                  <a:srgbClr val="87B49C"/>
                </a:solidFill>
                <a:latin typeface="Arial"/>
                <a:ea typeface="Arial"/>
                <a:cs typeface="Arial"/>
              </a:defRPr>
            </a:pPr>
            <a:r>
              <a:rPr sz="4050" b="1">
                <a:solidFill>
                  <a:srgbClr val="87B49C"/>
                </a:solidFill>
                <a:latin typeface="Arial"/>
                <a:ea typeface="Arial"/>
                <a:cs typeface="Arial"/>
              </a:rPr>
              <a:t>614 m</a:t>
            </a:r>
          </a:p>
        </p:txBody>
      </p:sp>
      <p:sp>
        <p:nvSpPr>
          <p:cNvPr id="15" name="demo-access-description">
            <a:extLst xmlns:a="http://schemas.openxmlformats.org/drawingml/2006/main">
              <a:ext uri="{FF2B5EF4-FFF2-40B4-BE49-F238E27FC236}">
                <a16:creationId xmlns:a16="http://schemas.microsoft.com/office/drawing/2014/main" id="{1CDAD7EB-2E06-4A20-8F7B-2E10618444DE}"/>
              </a:ext>
            </a:extLst>
          </p:cNvPr>
          <p:cNvSpPr>
            <a:spLocks xmlns:a="http://schemas.openxmlformats.org/drawingml/2006/main" noGrp="1"/>
          </p:cNvSpPr>
          <p:nvPr/>
        </p:nvSpPr>
        <p:spPr>
          <a:xfrm xmlns:a="http://schemas.openxmlformats.org/drawingml/2006/main">
            <a:off x="6553200" y="3981450"/>
            <a:ext cx="476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7B2AD"/>
                </a:solidFill>
                <a:latin typeface="Arial"/>
                <a:ea typeface="Arial"/>
                <a:cs typeface="Arial"/>
              </a:defRPr>
            </a:defPPr>
          </a:lstStyle>
          <a:p xmlns:a="http://schemas.openxmlformats.org/drawingml/2006/main">
            <a:pPr algn="l">
              <a:defRPr sz="1650" b="0">
                <a:solidFill>
                  <a:srgbClr val="A7B2AD"/>
                </a:solidFill>
                <a:latin typeface="Arial"/>
                <a:ea typeface="Arial"/>
                <a:cs typeface="Arial"/>
              </a:defRPr>
            </a:pPr>
            <a:r>
              <a:rPr sz="1650" b="0">
                <a:solidFill>
                  <a:srgbClr val="A7B2AD"/>
                </a:solidFill>
                <a:latin typeface="Arial"/>
                <a:ea typeface="Arial"/>
                <a:cs typeface="Arial"/>
              </a:rPr>
              <a:t>Nearest road-network distance from one sample point inside the ward, returned by the live route endpoint.</a:t>
            </a:r>
          </a:p>
        </p:txBody>
      </p:sp>
      <p:sp>
        <p:nvSpPr>
          <p:cNvPr id="16" name="demo-access-limit">
            <a:extLst xmlns:a="http://schemas.openxmlformats.org/drawingml/2006/main">
              <a:ext uri="{FF2B5EF4-FFF2-40B4-BE49-F238E27FC236}">
                <a16:creationId xmlns:a16="http://schemas.microsoft.com/office/drawing/2014/main" id="{60401384-06D9-4A1D-AC7D-5C2B7126F902}"/>
              </a:ext>
            </a:extLst>
          </p:cNvPr>
          <p:cNvSpPr>
            <a:spLocks xmlns:a="http://schemas.openxmlformats.org/drawingml/2006/main" noGrp="1"/>
          </p:cNvSpPr>
          <p:nvPr/>
        </p:nvSpPr>
        <p:spPr>
          <a:xfrm xmlns:a="http://schemas.openxmlformats.org/drawingml/2006/main">
            <a:off x="6553200" y="4972050"/>
            <a:ext cx="466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D88B79"/>
                </a:solidFill>
                <a:latin typeface="Arial"/>
                <a:ea typeface="Arial"/>
                <a:cs typeface="Arial"/>
              </a:defRPr>
            </a:defPPr>
          </a:lstStyle>
          <a:p xmlns:a="http://schemas.openxmlformats.org/drawingml/2006/main">
            <a:pPr algn="l">
              <a:defRPr sz="1350" b="1">
                <a:solidFill>
                  <a:srgbClr val="D88B79"/>
                </a:solidFill>
                <a:latin typeface="Arial"/>
                <a:ea typeface="Arial"/>
                <a:cs typeface="Arial"/>
              </a:defRPr>
            </a:pPr>
            <a:r>
              <a:rPr sz="1350" b="1">
                <a:solidFill>
                  <a:srgbClr val="D88B79"/>
                </a:solidFill>
                <a:latin typeface="Arial"/>
                <a:ea typeface="Arial"/>
                <a:cs typeface="Arial"/>
              </a:rPr>
              <a:t>Mapped status and travel time are not verified.</a:t>
            </a:r>
          </a:p>
        </p:txBody>
      </p:sp>
      <p:sp>
        <p:nvSpPr>
          <p:cNvPr id="17" name="demo-date">
            <a:extLst xmlns:a="http://schemas.openxmlformats.org/drawingml/2006/main">
              <a:ext uri="{FF2B5EF4-FFF2-40B4-BE49-F238E27FC236}">
                <a16:creationId xmlns:a16="http://schemas.microsoft.com/office/drawing/2014/main" id="{44DC7EDB-9565-401A-87C3-20C15A9EDC92}"/>
              </a:ext>
            </a:extLst>
          </p:cNvPr>
          <p:cNvSpPr>
            <a:spLocks xmlns:a="http://schemas.openxmlformats.org/drawingml/2006/main" noGrp="1"/>
          </p:cNvSpPr>
          <p:nvPr/>
        </p:nvSpPr>
        <p:spPr>
          <a:xfrm xmlns:a="http://schemas.openxmlformats.org/drawingml/2006/main">
            <a:off x="609600" y="5810250"/>
            <a:ext cx="10429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A7B2AD"/>
                </a:solidFill>
                <a:latin typeface="Arial"/>
                <a:ea typeface="Arial"/>
                <a:cs typeface="Arial"/>
              </a:defRPr>
            </a:defPPr>
          </a:lstStyle>
          <a:p xmlns:a="http://schemas.openxmlformats.org/drawingml/2006/main">
            <a:pPr algn="l">
              <a:defRPr sz="1125" b="0">
                <a:solidFill>
                  <a:srgbClr val="A7B2AD"/>
                </a:solidFill>
                <a:latin typeface="Arial"/>
                <a:ea typeface="Arial"/>
                <a:cs typeface="Arial"/>
              </a:defRPr>
            </a:pPr>
            <a:r>
              <a:rPr sz="1125" b="0">
                <a:solidFill>
                  <a:srgbClr val="A7B2AD"/>
                </a:solidFill>
                <a:latin typeface="Arial"/>
                <a:ea typeface="Arial"/>
                <a:cs typeface="Arial"/>
              </a:rPr>
              <a:t>Live API smoke check · 11 Oct 2026 · sample outputs, not impact claims</a:t>
            </a:r>
          </a:p>
        </p:txBody>
      </p:sp>
    </p:spTree>
    <p:extLst>
      <p:ext uri="{BB962C8B-B14F-4D97-AF65-F5344CB8AC3E}">
        <p14:creationId xmlns:p14="http://schemas.microsoft.com/office/powerpoint/2010/main" val="2077837221"/>
      </p:ext>
    </p:extLst>
  </p:cSld>
</p:sld>
</file>

<file path=ppt/slides/slide5.xml><?xml version="1.0" encoding="utf-8"?>
<p:sld xmlns:p="http://schemas.openxmlformats.org/presentationml/2006/main">
  <p:cSld>
    <p:bg>
      <p:bgPr>
        <a:solidFill xmlns:a="http://schemas.openxmlformats.org/drawingml/2006/main">
          <a:srgbClr val="101B1F"/>
        </a:solidFill>
      </p:bgPr>
    </p:bg>
    <p:spTree>
      <p:nvGrpSpPr>
        <p:cNvPr id="1" name=""/>
        <p:cNvGrpSpPr/>
        <p:nvPr/>
      </p:nvGrpSpPr>
      <p:grpSpPr>
        <a:xfrm xmlns:a="http://schemas.openxmlformats.org/drawingml/2006/main"/>
      </p:grpSpPr>
      <p:sp>
        <p:nvSpPr>
          <p:cNvPr id="13" name="kicker-5">
            <a:extLst xmlns:a="http://schemas.openxmlformats.org/drawingml/2006/main">
              <a:ext uri="{FF2B5EF4-FFF2-40B4-BE49-F238E27FC236}">
                <a16:creationId xmlns:a16="http://schemas.microsoft.com/office/drawing/2014/main" id="{C8A5D676-6FE8-4ECA-9C26-2209E2D5522B}"/>
              </a:ext>
            </a:extLst>
          </p:cNvPr>
          <p:cNvSpPr>
            <a:spLocks xmlns:a="http://schemas.openxmlformats.org/drawingml/2006/main" noGrp="1"/>
          </p:cNvSpPr>
          <p:nvPr/>
        </p:nvSpPr>
        <p:spPr>
          <a:xfrm xmlns:a="http://schemas.openxmlformats.org/drawingml/2006/main">
            <a:off x="609600" y="400050"/>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2B85D"/>
                </a:solidFill>
                <a:latin typeface="Arial"/>
                <a:ea typeface="Arial"/>
                <a:cs typeface="Arial"/>
              </a:defRPr>
            </a:defPPr>
          </a:lstStyle>
          <a:p xmlns:a="http://schemas.openxmlformats.org/drawingml/2006/main">
            <a:pPr algn="l">
              <a:defRPr sz="1125" b="1">
                <a:solidFill>
                  <a:srgbClr val="E2B85D"/>
                </a:solidFill>
                <a:latin typeface="Arial"/>
                <a:ea typeface="Arial"/>
                <a:cs typeface="Arial"/>
              </a:defRPr>
            </a:pPr>
            <a:r>
              <a:rPr sz="1125" b="1">
                <a:solidFill>
                  <a:srgbClr val="E2B85D"/>
                </a:solidFill>
                <a:latin typeface="Arial"/>
                <a:ea typeface="Arial"/>
                <a:cs typeface="Arial"/>
              </a:rPr>
              <a:t>PLANNING TOOLS AND IMPACT PATH</a:t>
            </a:r>
          </a:p>
        </p:txBody>
      </p:sp>
      <p:sp>
        <p:nvSpPr>
          <p:cNvPr id="2" name="title-5">
            <a:extLst xmlns:a="http://schemas.openxmlformats.org/drawingml/2006/main">
              <a:ext uri="{FF2B5EF4-FFF2-40B4-BE49-F238E27FC236}">
                <a16:creationId xmlns:a16="http://schemas.microsoft.com/office/drawing/2014/main" id="{55843915-B869-48F4-BB96-BDC8430B347B}"/>
              </a:ext>
            </a:extLst>
          </p:cNvPr>
          <p:cNvSpPr>
            <a:spLocks xmlns:a="http://schemas.openxmlformats.org/drawingml/2006/main" noGrp="1"/>
          </p:cNvSpPr>
          <p:nvPr/>
        </p:nvSpPr>
        <p:spPr>
          <a:xfrm xmlns:a="http://schemas.openxmlformats.org/drawingml/2006/main">
            <a:off x="609600" y="7429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F3F0E6"/>
                </a:solidFill>
                <a:latin typeface="Arial"/>
                <a:ea typeface="Arial"/>
                <a:cs typeface="Arial"/>
              </a:defRPr>
            </a:defPPr>
          </a:lstStyle>
          <a:p xmlns:a="http://schemas.openxmlformats.org/drawingml/2006/main">
            <a:pPr algn="l">
              <a:defRPr sz="4050" b="1">
                <a:solidFill>
                  <a:srgbClr val="F3F0E6"/>
                </a:solidFill>
                <a:latin typeface="Arial"/>
                <a:ea typeface="Arial"/>
                <a:cs typeface="Arial"/>
              </a:defRPr>
            </a:pPr>
            <a:r>
              <a:rPr sz="4050" b="1">
                <a:solidFill>
                  <a:srgbClr val="F3F0E6"/>
                </a:solidFill>
                <a:latin typeface="Arial"/>
                <a:ea typeface="Arial"/>
                <a:cs typeface="Arial"/>
              </a:rPr>
              <a:t>Compare choices before field review</a:t>
            </a:r>
          </a:p>
        </p:txBody>
      </p:sp>
      <p:sp>
        <p:nvSpPr>
          <p:cNvPr id="3" name="footer-rule-5">
            <a:extLst xmlns:a="http://schemas.openxmlformats.org/drawingml/2006/main">
              <a:ext uri="{FF2B5EF4-FFF2-40B4-BE49-F238E27FC236}">
                <a16:creationId xmlns:a16="http://schemas.microsoft.com/office/drawing/2014/main" id="{68FE6E40-CE6B-4F69-82BC-11DB95DF01FA}"/>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4" name="footer-name-5">
            <a:extLst xmlns:a="http://schemas.openxmlformats.org/drawingml/2006/main">
              <a:ext uri="{FF2B5EF4-FFF2-40B4-BE49-F238E27FC236}">
                <a16:creationId xmlns:a16="http://schemas.microsoft.com/office/drawing/2014/main" id="{CF3D7BD1-F16A-45FD-A751-03C22647A052}"/>
              </a:ext>
            </a:extLst>
          </p:cNvPr>
          <p:cNvSpPr>
            <a:spLocks xmlns:a="http://schemas.openxmlformats.org/drawingml/2006/main" noGrp="1"/>
          </p:cNvSpPr>
          <p:nvPr/>
        </p:nvSpPr>
        <p:spPr>
          <a:xfrm xmlns:a="http://schemas.openxmlformats.org/drawingml/2006/main">
            <a:off x="609600" y="6496050"/>
            <a:ext cx="628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A7B2AD"/>
                </a:solidFill>
                <a:latin typeface="Arial"/>
                <a:ea typeface="Arial"/>
                <a:cs typeface="Arial"/>
              </a:defRPr>
            </a:defPPr>
          </a:lstStyle>
          <a:p xmlns:a="http://schemas.openxmlformats.org/drawingml/2006/main">
            <a:pPr algn="l">
              <a:defRPr sz="975" b="1">
                <a:solidFill>
                  <a:srgbClr val="A7B2AD"/>
                </a:solidFill>
                <a:latin typeface="Arial"/>
                <a:ea typeface="Arial"/>
                <a:cs typeface="Arial"/>
              </a:defRPr>
            </a:pPr>
            <a:r>
              <a:rPr sz="975" b="1">
                <a:solidFill>
                  <a:srgbClr val="A7B2AD"/>
                </a:solidFill>
                <a:latin typeface="Arial"/>
                <a:ea typeface="Arial"/>
                <a:cs typeface="Arial"/>
              </a:rPr>
              <a:t>BHARAT YANTRA  ·  MUMBAI F/S WARD</a:t>
            </a:r>
          </a:p>
        </p:txBody>
      </p:sp>
      <p:sp>
        <p:nvSpPr>
          <p:cNvPr id="5" name="footer-page-5">
            <a:extLst xmlns:a="http://schemas.openxmlformats.org/drawingml/2006/main">
              <a:ext uri="{FF2B5EF4-FFF2-40B4-BE49-F238E27FC236}">
                <a16:creationId xmlns:a16="http://schemas.microsoft.com/office/drawing/2014/main" id="{08856209-D176-460D-A1D6-3D96035BA30C}"/>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E2B85D"/>
                </a:solidFill>
                <a:latin typeface="Arial"/>
                <a:ea typeface="Arial"/>
                <a:cs typeface="Arial"/>
              </a:defRPr>
            </a:defPPr>
          </a:lstStyle>
          <a:p xmlns:a="http://schemas.openxmlformats.org/drawingml/2006/main">
            <a:pPr algn="r">
              <a:defRPr sz="975" b="1">
                <a:solidFill>
                  <a:srgbClr val="E2B85D"/>
                </a:solidFill>
                <a:latin typeface="Arial"/>
                <a:ea typeface="Arial"/>
                <a:cs typeface="Arial"/>
              </a:defRPr>
            </a:pPr>
            <a:r>
              <a:rPr sz="975" b="1">
                <a:solidFill>
                  <a:srgbClr val="E2B85D"/>
                </a:solidFill>
                <a:latin typeface="Arial"/>
                <a:ea typeface="Arial"/>
                <a:cs typeface="Arial"/>
              </a:rPr>
              <a:t>05 / 07</a:t>
            </a:r>
          </a:p>
        </p:txBody>
      </p:sp>
      <p:sp>
        <p:nvSpPr>
          <p:cNvPr id="6" name="choice-column-label">
            <a:extLst xmlns:a="http://schemas.openxmlformats.org/drawingml/2006/main">
              <a:ext uri="{FF2B5EF4-FFF2-40B4-BE49-F238E27FC236}">
                <a16:creationId xmlns:a16="http://schemas.microsoft.com/office/drawing/2014/main" id="{9E981426-08B3-4689-A760-E2427B67FEB4}"/>
              </a:ext>
            </a:extLst>
          </p:cNvPr>
          <p:cNvSpPr>
            <a:spLocks xmlns:a="http://schemas.openxmlformats.org/drawingml/2006/main" noGrp="1"/>
          </p:cNvSpPr>
          <p:nvPr/>
        </p:nvSpPr>
        <p:spPr>
          <a:xfrm xmlns:a="http://schemas.openxmlformats.org/drawingml/2006/main">
            <a:off x="609600" y="171450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E2B85D"/>
                </a:solidFill>
                <a:latin typeface="Arial"/>
                <a:ea typeface="Arial"/>
                <a:cs typeface="Arial"/>
              </a:defRPr>
            </a:defPPr>
          </a:lstStyle>
          <a:p xmlns:a="http://schemas.openxmlformats.org/drawingml/2006/main">
            <a:pPr algn="l">
              <a:defRPr sz="1275" b="1">
                <a:solidFill>
                  <a:srgbClr val="E2B85D"/>
                </a:solidFill>
                <a:latin typeface="Arial"/>
                <a:ea typeface="Arial"/>
                <a:cs typeface="Arial"/>
              </a:defRPr>
            </a:pPr>
            <a:r>
              <a:rPr sz="1275" b="1">
                <a:solidFill>
                  <a:srgbClr val="E2B85D"/>
                </a:solidFill>
                <a:latin typeface="Arial"/>
                <a:ea typeface="Arial"/>
                <a:cs typeface="Arial"/>
              </a:rPr>
              <a:t>WHAT THE PROTOTYPE CONNECTS</a:t>
            </a:r>
          </a:p>
        </p:txBody>
      </p:sp>
      <p:sp>
        <p:nvSpPr>
          <p:cNvPr id="7" name="choice-list">
            <a:extLst xmlns:a="http://schemas.openxmlformats.org/drawingml/2006/main">
              <a:ext uri="{FF2B5EF4-FFF2-40B4-BE49-F238E27FC236}">
                <a16:creationId xmlns:a16="http://schemas.microsoft.com/office/drawing/2014/main" id="{C9717728-6888-435E-8F29-181D21DCCBEC}"/>
              </a:ext>
            </a:extLst>
          </p:cNvPr>
          <p:cNvSpPr>
            <a:spLocks xmlns:a="http://schemas.openxmlformats.org/drawingml/2006/main" noGrp="1"/>
          </p:cNvSpPr>
          <p:nvPr/>
        </p:nvSpPr>
        <p:spPr>
          <a:xfrm xmlns:a="http://schemas.openxmlformats.org/drawingml/2006/main">
            <a:off x="609600" y="2133600"/>
            <a:ext cx="5095875"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F3F0E6"/>
                </a:solidFill>
                <a:latin typeface="Arial"/>
                <a:ea typeface="Arial"/>
                <a:cs typeface="Arial"/>
              </a:defRPr>
            </a:defPPr>
          </a:lstStyle>
          <a:p xmlns:a="http://schemas.openxmlformats.org/drawingml/2006/main">
            <a:pPr algn="l">
              <a:defRPr sz="1875" b="0">
                <a:solidFill>
                  <a:srgbClr val="F3F0E6"/>
                </a:solidFill>
                <a:latin typeface="Arial"/>
                <a:ea typeface="Arial"/>
                <a:cs typeface="Arial"/>
              </a:defRPr>
            </a:pPr>
            <a:r>
              <a:rPr sz="1875" b="0">
                <a:solidFill>
                  <a:srgbClr val="F3F0E6"/>
                </a:solidFill>
                <a:latin typeface="Arial"/>
                <a:ea typeface="Arial"/>
                <a:cs typeface="Arial"/>
              </a:rPr>
              <a:t>Budget options → candidate works on the map</a:t>
            </a:r>
          </a:p>
          <a:p xmlns:a="http://schemas.openxmlformats.org/drawingml/2006/main">
            <a:pPr algn="l">
              <a:defRPr sz="1875" b="0">
                <a:solidFill>
                  <a:srgbClr val="F3F0E6"/>
                </a:solidFill>
                <a:latin typeface="Arial"/>
                <a:ea typeface="Arial"/>
                <a:cs typeface="Arial"/>
              </a:defRPr>
            </a:pPr>
            <a:r>
              <a:rPr sz="1875" b="0">
                <a:solidFill>
                  <a:srgbClr val="F3F0E6"/>
                </a:solidFill>
                <a:latin typeface="Arial"/>
                <a:ea typeface="Arial"/>
                <a:cs typeface="Arial"/>
              </a:rPr>
              <a:t>Road closures → changed network access</a:t>
            </a:r>
          </a:p>
          <a:p xmlns:a="http://schemas.openxmlformats.org/drawingml/2006/main">
            <a:pPr algn="l">
              <a:defRPr sz="1875" b="0">
                <a:solidFill>
                  <a:srgbClr val="F3F0E6"/>
                </a:solidFill>
                <a:latin typeface="Arial"/>
                <a:ea typeface="Arial"/>
                <a:cs typeface="Arial"/>
              </a:defRPr>
            </a:pPr>
            <a:r>
              <a:rPr sz="1875" b="0">
                <a:solidFill>
                  <a:srgbClr val="F3F0E6"/>
                </a:solidFill>
                <a:latin typeface="Arial"/>
                <a:ea typeface="Arial"/>
                <a:cs typeface="Arial"/>
              </a:rPr>
              <a:t>Facility access → routes with selected closures</a:t>
            </a:r>
          </a:p>
          <a:p xmlns:a="http://schemas.openxmlformats.org/drawingml/2006/main">
            <a:pPr algn="l">
              <a:defRPr sz="1875" b="0">
                <a:solidFill>
                  <a:srgbClr val="F3F0E6"/>
                </a:solidFill>
                <a:latin typeface="Arial"/>
                <a:ea typeface="Arial"/>
                <a:cs typeface="Arial"/>
              </a:defRPr>
            </a:pPr>
            <a:r>
              <a:rPr sz="1875" b="0">
                <a:solidFill>
                  <a:srgbClr val="F3F0E6"/>
                </a:solidFill>
                <a:latin typeface="Arial"/>
                <a:ea typeface="Arial"/>
                <a:cs typeface="Arial"/>
              </a:rPr>
              <a:t>Action tracker → map-linked review status</a:t>
            </a:r>
          </a:p>
        </p:txBody>
      </p:sp>
      <p:sp>
        <p:nvSpPr>
          <p:cNvPr id="8" name="impact-divider">
            <a:extLst xmlns:a="http://schemas.openxmlformats.org/drawingml/2006/main">
              <a:ext uri="{FF2B5EF4-FFF2-40B4-BE49-F238E27FC236}">
                <a16:creationId xmlns:a16="http://schemas.microsoft.com/office/drawing/2014/main" id="{AF2F5C48-1C9E-4039-963A-7283F007046E}"/>
              </a:ext>
            </a:extLst>
          </p:cNvPr>
          <p:cNvSpPr>
            <a:spLocks xmlns:a="http://schemas.openxmlformats.org/drawingml/2006/main" noGrp="1"/>
          </p:cNvSpPr>
          <p:nvPr/>
        </p:nvSpPr>
        <p:spPr>
          <a:xfrm xmlns:a="http://schemas.openxmlformats.org/drawingml/2006/main">
            <a:off x="6076950" y="1714500"/>
            <a:ext cx="19050" cy="3714750"/>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9" name="impact-column-label">
            <a:extLst xmlns:a="http://schemas.openxmlformats.org/drawingml/2006/main">
              <a:ext uri="{FF2B5EF4-FFF2-40B4-BE49-F238E27FC236}">
                <a16:creationId xmlns:a16="http://schemas.microsoft.com/office/drawing/2014/main" id="{ED3F6A4C-918B-44ED-AC4B-A91B47E1AD3E}"/>
              </a:ext>
            </a:extLst>
          </p:cNvPr>
          <p:cNvSpPr>
            <a:spLocks xmlns:a="http://schemas.openxmlformats.org/drawingml/2006/main" noGrp="1"/>
          </p:cNvSpPr>
          <p:nvPr/>
        </p:nvSpPr>
        <p:spPr>
          <a:xfrm xmlns:a="http://schemas.openxmlformats.org/drawingml/2006/main">
            <a:off x="6572250" y="17145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E2B85D"/>
                </a:solidFill>
                <a:latin typeface="Arial"/>
                <a:ea typeface="Arial"/>
                <a:cs typeface="Arial"/>
              </a:defRPr>
            </a:defPPr>
          </a:lstStyle>
          <a:p xmlns:a="http://schemas.openxmlformats.org/drawingml/2006/main">
            <a:pPr algn="l">
              <a:defRPr sz="1275" b="1">
                <a:solidFill>
                  <a:srgbClr val="E2B85D"/>
                </a:solidFill>
                <a:latin typeface="Arial"/>
                <a:ea typeface="Arial"/>
                <a:cs typeface="Arial"/>
              </a:defRPr>
            </a:pPr>
            <a:r>
              <a:rPr sz="1275" b="1">
                <a:solidFill>
                  <a:srgbClr val="E2B85D"/>
                </a:solidFill>
                <a:latin typeface="Arial"/>
                <a:ea typeface="Arial"/>
                <a:cs typeface="Arial"/>
              </a:rPr>
              <a:t>WHAT A PILOT SHOULD MEASURE</a:t>
            </a:r>
          </a:p>
        </p:txBody>
      </p:sp>
      <p:sp>
        <p:nvSpPr>
          <p:cNvPr id="10" name="impact-list">
            <a:extLst xmlns:a="http://schemas.openxmlformats.org/drawingml/2006/main">
              <a:ext uri="{FF2B5EF4-FFF2-40B4-BE49-F238E27FC236}">
                <a16:creationId xmlns:a16="http://schemas.microsoft.com/office/drawing/2014/main" id="{1667B2F8-154D-40A4-B39F-5231426A6881}"/>
              </a:ext>
            </a:extLst>
          </p:cNvPr>
          <p:cNvSpPr>
            <a:spLocks xmlns:a="http://schemas.openxmlformats.org/drawingml/2006/main" noGrp="1"/>
          </p:cNvSpPr>
          <p:nvPr/>
        </p:nvSpPr>
        <p:spPr>
          <a:xfrm xmlns:a="http://schemas.openxmlformats.org/drawingml/2006/main">
            <a:off x="6572250" y="2133600"/>
            <a:ext cx="495300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F3F0E6"/>
                </a:solidFill>
                <a:latin typeface="Arial"/>
                <a:ea typeface="Arial"/>
                <a:cs typeface="Arial"/>
              </a:defRPr>
            </a:defPPr>
          </a:lstStyle>
          <a:p xmlns:a="http://schemas.openxmlformats.org/drawingml/2006/main">
            <a:pPr algn="l">
              <a:defRPr sz="1875" b="0">
                <a:solidFill>
                  <a:srgbClr val="F3F0E6"/>
                </a:solidFill>
                <a:latin typeface="Arial"/>
                <a:ea typeface="Arial"/>
                <a:cs typeface="Arial"/>
              </a:defRPr>
            </a:pPr>
            <a:r>
              <a:rPr sz="1875" b="0">
                <a:solidFill>
                  <a:srgbClr val="F3F0E6"/>
                </a:solidFill>
                <a:latin typeface="Arial"/>
                <a:ea typeface="Arial"/>
                <a:cs typeface="Arial"/>
              </a:rPr>
              <a:t>Time to prepare a scenario comparison</a:t>
            </a:r>
          </a:p>
          <a:p xmlns:a="http://schemas.openxmlformats.org/drawingml/2006/main">
            <a:pPr algn="l">
              <a:defRPr sz="1875" b="0">
                <a:solidFill>
                  <a:srgbClr val="F3F0E6"/>
                </a:solidFill>
                <a:latin typeface="Arial"/>
                <a:ea typeface="Arial"/>
                <a:cs typeface="Arial"/>
              </a:defRPr>
            </a:pPr>
            <a:r>
              <a:rPr sz="1875" b="0">
                <a:solidFill>
                  <a:srgbClr val="F3F0E6"/>
                </a:solidFill>
                <a:latin typeface="Arial"/>
                <a:ea typeface="Arial"/>
                <a:cs typeface="Arial"/>
              </a:rPr>
              <a:t>Share of missing or stale records flagged</a:t>
            </a:r>
          </a:p>
          <a:p xmlns:a="http://schemas.openxmlformats.org/drawingml/2006/main">
            <a:pPr algn="l">
              <a:defRPr sz="1875" b="0">
                <a:solidFill>
                  <a:srgbClr val="F3F0E6"/>
                </a:solidFill>
                <a:latin typeface="Arial"/>
                <a:ea typeface="Arial"/>
                <a:cs typeface="Arial"/>
              </a:defRPr>
            </a:pPr>
            <a:r>
              <a:rPr sz="1875" b="0">
                <a:solidFill>
                  <a:srgbClr val="F3F0E6"/>
                </a:solidFill>
                <a:latin typeface="Arial"/>
                <a:ea typeface="Arial"/>
                <a:cs typeface="Arial"/>
              </a:rPr>
              <a:t>Route changes checked against a field audit</a:t>
            </a:r>
          </a:p>
          <a:p xmlns:a="http://schemas.openxmlformats.org/drawingml/2006/main">
            <a:pPr algn="l">
              <a:defRPr sz="1875" b="0">
                <a:solidFill>
                  <a:srgbClr val="F3F0E6"/>
                </a:solidFill>
                <a:latin typeface="Arial"/>
                <a:ea typeface="Arial"/>
                <a:cs typeface="Arial"/>
              </a:defRPr>
            </a:pPr>
            <a:r>
              <a:rPr sz="1875" b="0">
                <a:solidFill>
                  <a:srgbClr val="F3F0E6"/>
                </a:solidFill>
                <a:latin typeface="Arial"/>
                <a:ea typeface="Arial"/>
                <a:cs typeface="Arial"/>
              </a:rPr>
              <a:t>Agreement with independent flood observations</a:t>
            </a:r>
          </a:p>
        </p:txBody>
      </p:sp>
      <p:sp>
        <p:nvSpPr>
          <p:cNvPr id="11" name="impact-status">
            <a:extLst xmlns:a="http://schemas.openxmlformats.org/drawingml/2006/main">
              <a:ext uri="{FF2B5EF4-FFF2-40B4-BE49-F238E27FC236}">
                <a16:creationId xmlns:a16="http://schemas.microsoft.com/office/drawing/2014/main" id="{5DEADF22-DBA5-450E-BE38-16208DC9EA38}"/>
              </a:ext>
            </a:extLst>
          </p:cNvPr>
          <p:cNvSpPr>
            <a:spLocks xmlns:a="http://schemas.openxmlformats.org/drawingml/2006/main" noGrp="1"/>
          </p:cNvSpPr>
          <p:nvPr/>
        </p:nvSpPr>
        <p:spPr>
          <a:xfrm xmlns:a="http://schemas.openxmlformats.org/drawingml/2006/main">
            <a:off x="609600" y="48577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D88B79"/>
                </a:solidFill>
                <a:latin typeface="Arial"/>
                <a:ea typeface="Arial"/>
                <a:cs typeface="Arial"/>
              </a:defRPr>
            </a:defPPr>
          </a:lstStyle>
          <a:p xmlns:a="http://schemas.openxmlformats.org/drawingml/2006/main">
            <a:pPr algn="l">
              <a:defRPr sz="1650" b="1">
                <a:solidFill>
                  <a:srgbClr val="D88B79"/>
                </a:solidFill>
                <a:latin typeface="Arial"/>
                <a:ea typeface="Arial"/>
                <a:cs typeface="Arial"/>
              </a:defRPr>
            </a:pPr>
            <a:r>
              <a:rPr sz="1650" b="1">
                <a:solidFill>
                  <a:srgbClr val="D88B79"/>
                </a:solidFill>
                <a:latin typeface="Arial"/>
                <a:ea typeface="Arial"/>
                <a:cs typeface="Arial"/>
              </a:rPr>
              <a:t>These are proposed evaluation measures. No impact or savings have been measured yet.</a:t>
            </a:r>
          </a:p>
        </p:txBody>
      </p:sp>
      <p:sp>
        <p:nvSpPr>
          <p:cNvPr id="12" name="scale-note">
            <a:extLst xmlns:a="http://schemas.openxmlformats.org/drawingml/2006/main">
              <a:ext uri="{FF2B5EF4-FFF2-40B4-BE49-F238E27FC236}">
                <a16:creationId xmlns:a16="http://schemas.microsoft.com/office/drawing/2014/main" id="{C5E931A3-E205-4DD7-B46B-81D9B1C9F048}"/>
              </a:ext>
            </a:extLst>
          </p:cNvPr>
          <p:cNvSpPr>
            <a:spLocks xmlns:a="http://schemas.openxmlformats.org/drawingml/2006/main" noGrp="1"/>
          </p:cNvSpPr>
          <p:nvPr/>
        </p:nvSpPr>
        <p:spPr>
          <a:xfrm xmlns:a="http://schemas.openxmlformats.org/drawingml/2006/main">
            <a:off x="609600" y="55626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87B49C"/>
                </a:solidFill>
                <a:latin typeface="Arial"/>
                <a:ea typeface="Arial"/>
                <a:cs typeface="Arial"/>
              </a:defRPr>
            </a:defPPr>
          </a:lstStyle>
          <a:p xmlns:a="http://schemas.openxmlformats.org/drawingml/2006/main">
            <a:pPr algn="l">
              <a:defRPr sz="1575" b="1">
                <a:solidFill>
                  <a:srgbClr val="87B49C"/>
                </a:solidFill>
                <a:latin typeface="Arial"/>
                <a:ea typeface="Arial"/>
                <a:cs typeface="Arial"/>
              </a:defRPr>
            </a:pPr>
            <a:r>
              <a:rPr sz="1575" b="1">
                <a:solidFill>
                  <a:srgbClr val="87B49C"/>
                </a:solidFill>
                <a:latin typeface="Arial"/>
                <a:ea typeface="Arial"/>
                <a:cs typeface="Arial"/>
              </a:rPr>
              <a:t>Scale only after data rights, local validation and ward-team review are complete.</a:t>
            </a:r>
          </a:p>
        </p:txBody>
      </p:sp>
    </p:spTree>
    <p:extLst>
      <p:ext uri="{BB962C8B-B14F-4D97-AF65-F5344CB8AC3E}">
        <p14:creationId xmlns:p14="http://schemas.microsoft.com/office/powerpoint/2010/main" val="1601577"/>
      </p:ext>
    </p:extLst>
  </p:cSld>
</p:sld>
</file>

<file path=ppt/slides/slide6.xml><?xml version="1.0" encoding="utf-8"?>
<p:sld xmlns:p="http://schemas.openxmlformats.org/presentationml/2006/main">
  <p:cSld>
    <p:bg>
      <p:bgPr>
        <a:solidFill xmlns:a="http://schemas.openxmlformats.org/drawingml/2006/main">
          <a:srgbClr val="101B1F"/>
        </a:solidFill>
      </p:bgPr>
    </p:bg>
    <p:spTree>
      <p:nvGrpSpPr>
        <p:cNvPr id="1" name=""/>
        <p:cNvGrpSpPr/>
        <p:nvPr/>
      </p:nvGrpSpPr>
      <p:grpSpPr>
        <a:xfrm xmlns:a="http://schemas.openxmlformats.org/drawingml/2006/main"/>
      </p:grpSpPr>
      <p:sp>
        <p:nvSpPr>
          <p:cNvPr id="14" name="kicker-6">
            <a:extLst xmlns:a="http://schemas.openxmlformats.org/drawingml/2006/main">
              <a:ext uri="{FF2B5EF4-FFF2-40B4-BE49-F238E27FC236}">
                <a16:creationId xmlns:a16="http://schemas.microsoft.com/office/drawing/2014/main" id="{6C16127C-5BE5-4FE4-A64E-C2198A2A245F}"/>
              </a:ext>
            </a:extLst>
          </p:cNvPr>
          <p:cNvSpPr>
            <a:spLocks xmlns:a="http://schemas.openxmlformats.org/drawingml/2006/main" noGrp="1"/>
          </p:cNvSpPr>
          <p:nvPr/>
        </p:nvSpPr>
        <p:spPr>
          <a:xfrm xmlns:a="http://schemas.openxmlformats.org/drawingml/2006/main">
            <a:off x="609600" y="400050"/>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2B85D"/>
                </a:solidFill>
                <a:latin typeface="Arial"/>
                <a:ea typeface="Arial"/>
                <a:cs typeface="Arial"/>
              </a:defRPr>
            </a:defPPr>
          </a:lstStyle>
          <a:p xmlns:a="http://schemas.openxmlformats.org/drawingml/2006/main">
            <a:pPr algn="l">
              <a:defRPr sz="1125" b="1">
                <a:solidFill>
                  <a:srgbClr val="E2B85D"/>
                </a:solidFill>
                <a:latin typeface="Arial"/>
                <a:ea typeface="Arial"/>
                <a:cs typeface="Arial"/>
              </a:defRPr>
            </a:pPr>
            <a:r>
              <a:rPr sz="1125" b="1">
                <a:solidFill>
                  <a:srgbClr val="E2B85D"/>
                </a:solidFill>
                <a:latin typeface="Arial"/>
                <a:ea typeface="Arial"/>
                <a:cs typeface="Arial"/>
              </a:rPr>
              <a:t>IMPLEMENTATION AND NEXT VALIDATION</a:t>
            </a:r>
          </a:p>
        </p:txBody>
      </p:sp>
      <p:sp>
        <p:nvSpPr>
          <p:cNvPr id="2" name="title-6">
            <a:extLst xmlns:a="http://schemas.openxmlformats.org/drawingml/2006/main">
              <a:ext uri="{FF2B5EF4-FFF2-40B4-BE49-F238E27FC236}">
                <a16:creationId xmlns:a16="http://schemas.microsoft.com/office/drawing/2014/main" id="{740EFFE3-8450-469C-8C24-2FCDF408BB6E}"/>
              </a:ext>
            </a:extLst>
          </p:cNvPr>
          <p:cNvSpPr>
            <a:spLocks xmlns:a="http://schemas.openxmlformats.org/drawingml/2006/main" noGrp="1"/>
          </p:cNvSpPr>
          <p:nvPr/>
        </p:nvSpPr>
        <p:spPr>
          <a:xfrm xmlns:a="http://schemas.openxmlformats.org/drawingml/2006/main">
            <a:off x="609600" y="7429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F3F0E6"/>
                </a:solidFill>
                <a:latin typeface="Arial"/>
                <a:ea typeface="Arial"/>
                <a:cs typeface="Arial"/>
              </a:defRPr>
            </a:defPPr>
          </a:lstStyle>
          <a:p xmlns:a="http://schemas.openxmlformats.org/drawingml/2006/main">
            <a:pPr algn="l">
              <a:defRPr sz="4050" b="1">
                <a:solidFill>
                  <a:srgbClr val="F3F0E6"/>
                </a:solidFill>
                <a:latin typeface="Arial"/>
                <a:ea typeface="Arial"/>
                <a:cs typeface="Arial"/>
              </a:defRPr>
            </a:pPr>
            <a:r>
              <a:rPr sz="4050" b="1">
                <a:solidFill>
                  <a:srgbClr val="F3F0E6"/>
                </a:solidFill>
                <a:latin typeface="Arial"/>
                <a:ea typeface="Arial"/>
                <a:cs typeface="Arial"/>
              </a:rPr>
              <a:t>Built for transparent local testing</a:t>
            </a:r>
          </a:p>
        </p:txBody>
      </p:sp>
      <p:sp>
        <p:nvSpPr>
          <p:cNvPr id="3" name="footer-rule-6">
            <a:extLst xmlns:a="http://schemas.openxmlformats.org/drawingml/2006/main">
              <a:ext uri="{FF2B5EF4-FFF2-40B4-BE49-F238E27FC236}">
                <a16:creationId xmlns:a16="http://schemas.microsoft.com/office/drawing/2014/main" id="{55EEDD67-4C3C-4D82-856B-4C48A301B945}"/>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4" name="footer-name-6">
            <a:extLst xmlns:a="http://schemas.openxmlformats.org/drawingml/2006/main">
              <a:ext uri="{FF2B5EF4-FFF2-40B4-BE49-F238E27FC236}">
                <a16:creationId xmlns:a16="http://schemas.microsoft.com/office/drawing/2014/main" id="{76D33E6B-73B8-4429-8087-1B1C56381C3F}"/>
              </a:ext>
            </a:extLst>
          </p:cNvPr>
          <p:cNvSpPr>
            <a:spLocks xmlns:a="http://schemas.openxmlformats.org/drawingml/2006/main" noGrp="1"/>
          </p:cNvSpPr>
          <p:nvPr/>
        </p:nvSpPr>
        <p:spPr>
          <a:xfrm xmlns:a="http://schemas.openxmlformats.org/drawingml/2006/main">
            <a:off x="609600" y="6496050"/>
            <a:ext cx="628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A7B2AD"/>
                </a:solidFill>
                <a:latin typeface="Arial"/>
                <a:ea typeface="Arial"/>
                <a:cs typeface="Arial"/>
              </a:defRPr>
            </a:defPPr>
          </a:lstStyle>
          <a:p xmlns:a="http://schemas.openxmlformats.org/drawingml/2006/main">
            <a:pPr algn="l">
              <a:defRPr sz="975" b="1">
                <a:solidFill>
                  <a:srgbClr val="A7B2AD"/>
                </a:solidFill>
                <a:latin typeface="Arial"/>
                <a:ea typeface="Arial"/>
                <a:cs typeface="Arial"/>
              </a:defRPr>
            </a:pPr>
            <a:r>
              <a:rPr sz="975" b="1">
                <a:solidFill>
                  <a:srgbClr val="A7B2AD"/>
                </a:solidFill>
                <a:latin typeface="Arial"/>
                <a:ea typeface="Arial"/>
                <a:cs typeface="Arial"/>
              </a:rPr>
              <a:t>BHARAT YANTRA  ·  MUMBAI F/S WARD</a:t>
            </a:r>
          </a:p>
        </p:txBody>
      </p:sp>
      <p:sp>
        <p:nvSpPr>
          <p:cNvPr id="5" name="footer-page-6">
            <a:extLst xmlns:a="http://schemas.openxmlformats.org/drawingml/2006/main">
              <a:ext uri="{FF2B5EF4-FFF2-40B4-BE49-F238E27FC236}">
                <a16:creationId xmlns:a16="http://schemas.microsoft.com/office/drawing/2014/main" id="{8B97278B-32FA-4911-9FCA-0001C42485F3}"/>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E2B85D"/>
                </a:solidFill>
                <a:latin typeface="Arial"/>
                <a:ea typeface="Arial"/>
                <a:cs typeface="Arial"/>
              </a:defRPr>
            </a:defPPr>
          </a:lstStyle>
          <a:p xmlns:a="http://schemas.openxmlformats.org/drawingml/2006/main">
            <a:pPr algn="r">
              <a:defRPr sz="975" b="1">
                <a:solidFill>
                  <a:srgbClr val="E2B85D"/>
                </a:solidFill>
                <a:latin typeface="Arial"/>
                <a:ea typeface="Arial"/>
                <a:cs typeface="Arial"/>
              </a:defRPr>
            </a:pPr>
            <a:r>
              <a:rPr sz="975" b="1">
                <a:solidFill>
                  <a:srgbClr val="E2B85D"/>
                </a:solidFill>
                <a:latin typeface="Arial"/>
                <a:ea typeface="Arial"/>
                <a:cs typeface="Arial"/>
              </a:rPr>
              <a:t>06 / 07</a:t>
            </a:r>
          </a:p>
        </p:txBody>
      </p:sp>
      <p:sp>
        <p:nvSpPr>
          <p:cNvPr id="6" name="stack-label">
            <a:extLst xmlns:a="http://schemas.openxmlformats.org/drawingml/2006/main">
              <a:ext uri="{FF2B5EF4-FFF2-40B4-BE49-F238E27FC236}">
                <a16:creationId xmlns:a16="http://schemas.microsoft.com/office/drawing/2014/main" id="{27735178-1019-4227-AC48-BDF0A81F4474}"/>
              </a:ext>
            </a:extLst>
          </p:cNvPr>
          <p:cNvSpPr>
            <a:spLocks xmlns:a="http://schemas.openxmlformats.org/drawingml/2006/main" noGrp="1"/>
          </p:cNvSpPr>
          <p:nvPr/>
        </p:nvSpPr>
        <p:spPr>
          <a:xfrm xmlns:a="http://schemas.openxmlformats.org/drawingml/2006/main">
            <a:off x="609600" y="16954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E2B85D"/>
                </a:solidFill>
                <a:latin typeface="Arial"/>
                <a:ea typeface="Arial"/>
                <a:cs typeface="Arial"/>
              </a:defRPr>
            </a:defPPr>
          </a:lstStyle>
          <a:p xmlns:a="http://schemas.openxmlformats.org/drawingml/2006/main">
            <a:pPr algn="l">
              <a:defRPr sz="1275" b="1">
                <a:solidFill>
                  <a:srgbClr val="E2B85D"/>
                </a:solidFill>
                <a:latin typeface="Arial"/>
                <a:ea typeface="Arial"/>
                <a:cs typeface="Arial"/>
              </a:defRPr>
            </a:pPr>
            <a:r>
              <a:rPr sz="1275" b="1">
                <a:solidFill>
                  <a:srgbClr val="E2B85D"/>
                </a:solidFill>
                <a:latin typeface="Arial"/>
                <a:ea typeface="Arial"/>
                <a:cs typeface="Arial"/>
              </a:rPr>
              <a:t>CURRENT PROTOTYPE</a:t>
            </a:r>
          </a:p>
        </p:txBody>
      </p:sp>
      <p:sp>
        <p:nvSpPr>
          <p:cNvPr id="7" name="stack">
            <a:extLst xmlns:a="http://schemas.openxmlformats.org/drawingml/2006/main">
              <a:ext uri="{FF2B5EF4-FFF2-40B4-BE49-F238E27FC236}">
                <a16:creationId xmlns:a16="http://schemas.microsoft.com/office/drawing/2014/main" id="{D8225771-7343-486B-B5C5-FCDC50656E5B}"/>
              </a:ext>
            </a:extLst>
          </p:cNvPr>
          <p:cNvSpPr>
            <a:spLocks xmlns:a="http://schemas.openxmlformats.org/drawingml/2006/main" noGrp="1"/>
          </p:cNvSpPr>
          <p:nvPr/>
        </p:nvSpPr>
        <p:spPr>
          <a:xfrm xmlns:a="http://schemas.openxmlformats.org/drawingml/2006/main">
            <a:off x="609600" y="2133600"/>
            <a:ext cx="466725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F3F0E6"/>
                </a:solidFill>
                <a:latin typeface="Arial"/>
                <a:ea typeface="Arial"/>
                <a:cs typeface="Arial"/>
              </a:defRPr>
            </a:defPPr>
          </a:lstStyle>
          <a:p xmlns:a="http://schemas.openxmlformats.org/drawingml/2006/main">
            <a:pPr algn="l">
              <a:defRPr sz="2025" b="0">
                <a:solidFill>
                  <a:srgbClr val="F3F0E6"/>
                </a:solidFill>
                <a:latin typeface="Arial"/>
                <a:ea typeface="Arial"/>
                <a:cs typeface="Arial"/>
              </a:defRPr>
            </a:pPr>
            <a:r>
              <a:rPr sz="2025" b="0">
                <a:solidFill>
                  <a:srgbClr val="F3F0E6"/>
                </a:solidFill>
                <a:latin typeface="Arial"/>
                <a:ea typeface="Arial"/>
                <a:cs typeface="Arial"/>
              </a:rPr>
              <a:t>React + TypeScript</a:t>
            </a:r>
          </a:p>
          <a:p xmlns:a="http://schemas.openxmlformats.org/drawingml/2006/main">
            <a:pPr algn="l">
              <a:defRPr sz="2025" b="0">
                <a:solidFill>
                  <a:srgbClr val="F3F0E6"/>
                </a:solidFill>
                <a:latin typeface="Arial"/>
                <a:ea typeface="Arial"/>
                <a:cs typeface="Arial"/>
              </a:defRPr>
            </a:pPr>
            <a:r>
              <a:rPr sz="2025" b="0">
                <a:solidFill>
                  <a:srgbClr val="F3F0E6"/>
                </a:solidFill>
                <a:latin typeface="Arial"/>
                <a:ea typeface="Arial"/>
                <a:cs typeface="Arial"/>
              </a:rPr>
              <a:t>CesiumJS map</a:t>
            </a:r>
          </a:p>
          <a:p xmlns:a="http://schemas.openxmlformats.org/drawingml/2006/main">
            <a:pPr algn="l">
              <a:defRPr sz="2025" b="0">
                <a:solidFill>
                  <a:srgbClr val="F3F0E6"/>
                </a:solidFill>
                <a:latin typeface="Arial"/>
                <a:ea typeface="Arial"/>
                <a:cs typeface="Arial"/>
              </a:defRPr>
            </a:pPr>
            <a:r>
              <a:rPr sz="2025" b="0">
                <a:solidFill>
                  <a:srgbClr val="F3F0E6"/>
                </a:solidFill>
                <a:latin typeface="Arial"/>
                <a:ea typeface="Arial"/>
                <a:cs typeface="Arial"/>
              </a:rPr>
              <a:t>FastAPI + Python</a:t>
            </a:r>
          </a:p>
          <a:p xmlns:a="http://schemas.openxmlformats.org/drawingml/2006/main">
            <a:pPr algn="l">
              <a:defRPr sz="2025" b="0">
                <a:solidFill>
                  <a:srgbClr val="F3F0E6"/>
                </a:solidFill>
                <a:latin typeface="Arial"/>
                <a:ea typeface="Arial"/>
                <a:cs typeface="Arial"/>
              </a:defRPr>
            </a:pPr>
            <a:r>
              <a:rPr sz="2025" b="0">
                <a:solidFill>
                  <a:srgbClr val="F3F0E6"/>
                </a:solidFill>
                <a:latin typeface="Arial"/>
                <a:ea typeface="Arial"/>
                <a:cs typeface="Arial"/>
              </a:rPr>
              <a:t>Local GIS extracts</a:t>
            </a:r>
          </a:p>
          <a:p xmlns:a="http://schemas.openxmlformats.org/drawingml/2006/main">
            <a:pPr algn="l">
              <a:defRPr sz="2025" b="0">
                <a:solidFill>
                  <a:srgbClr val="F3F0E6"/>
                </a:solidFill>
                <a:latin typeface="Arial"/>
                <a:ea typeface="Arial"/>
                <a:cs typeface="Arial"/>
              </a:defRPr>
            </a:pPr>
            <a:r>
              <a:rPr sz="2025" b="0">
                <a:solidFill>
                  <a:srgbClr val="F3F0E6"/>
                </a:solidFill>
                <a:latin typeface="Arial"/>
                <a:ea typeface="Arial"/>
                <a:cs typeface="Arial"/>
              </a:rPr>
              <a:t>NetworkX road diagnostics</a:t>
            </a:r>
          </a:p>
        </p:txBody>
      </p:sp>
      <p:sp>
        <p:nvSpPr>
          <p:cNvPr id="8" name="validation-divider">
            <a:extLst xmlns:a="http://schemas.openxmlformats.org/drawingml/2006/main">
              <a:ext uri="{FF2B5EF4-FFF2-40B4-BE49-F238E27FC236}">
                <a16:creationId xmlns:a16="http://schemas.microsoft.com/office/drawing/2014/main" id="{1EEA1349-5A36-4225-8B42-97BAE9E0B7EC}"/>
              </a:ext>
            </a:extLst>
          </p:cNvPr>
          <p:cNvSpPr>
            <a:spLocks xmlns:a="http://schemas.openxmlformats.org/drawingml/2006/main" noGrp="1"/>
          </p:cNvSpPr>
          <p:nvPr/>
        </p:nvSpPr>
        <p:spPr>
          <a:xfrm xmlns:a="http://schemas.openxmlformats.org/drawingml/2006/main">
            <a:off x="6076950" y="1714500"/>
            <a:ext cx="19050" cy="3714750"/>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9" name="gates-label">
            <a:extLst xmlns:a="http://schemas.openxmlformats.org/drawingml/2006/main">
              <a:ext uri="{FF2B5EF4-FFF2-40B4-BE49-F238E27FC236}">
                <a16:creationId xmlns:a16="http://schemas.microsoft.com/office/drawing/2014/main" id="{4E754422-B0EE-4E20-BBA3-4BE3F4CCAB95}"/>
              </a:ext>
            </a:extLst>
          </p:cNvPr>
          <p:cNvSpPr>
            <a:spLocks xmlns:a="http://schemas.openxmlformats.org/drawingml/2006/main" noGrp="1"/>
          </p:cNvSpPr>
          <p:nvPr/>
        </p:nvSpPr>
        <p:spPr>
          <a:xfrm xmlns:a="http://schemas.openxmlformats.org/drawingml/2006/main">
            <a:off x="6572250" y="17145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E2B85D"/>
                </a:solidFill>
                <a:latin typeface="Arial"/>
                <a:ea typeface="Arial"/>
                <a:cs typeface="Arial"/>
              </a:defRPr>
            </a:defPPr>
          </a:lstStyle>
          <a:p xmlns:a="http://schemas.openxmlformats.org/drawingml/2006/main">
            <a:pPr algn="l">
              <a:defRPr sz="1275" b="1">
                <a:solidFill>
                  <a:srgbClr val="E2B85D"/>
                </a:solidFill>
                <a:latin typeface="Arial"/>
                <a:ea typeface="Arial"/>
                <a:cs typeface="Arial"/>
              </a:defRPr>
            </a:pPr>
            <a:r>
              <a:rPr sz="1275" b="1">
                <a:solidFill>
                  <a:srgbClr val="E2B85D"/>
                </a:solidFill>
                <a:latin typeface="Arial"/>
                <a:ea typeface="Arial"/>
                <a:cs typeface="Arial"/>
              </a:rPr>
              <a:t>BEFORE OPERATIONAL USE</a:t>
            </a:r>
          </a:p>
        </p:txBody>
      </p:sp>
      <p:sp>
        <p:nvSpPr>
          <p:cNvPr id="10" name="gates">
            <a:extLst xmlns:a="http://schemas.openxmlformats.org/drawingml/2006/main">
              <a:ext uri="{FF2B5EF4-FFF2-40B4-BE49-F238E27FC236}">
                <a16:creationId xmlns:a16="http://schemas.microsoft.com/office/drawing/2014/main" id="{759150CF-4A13-4510-85D7-B1B81994BCED}"/>
              </a:ext>
            </a:extLst>
          </p:cNvPr>
          <p:cNvSpPr>
            <a:spLocks xmlns:a="http://schemas.openxmlformats.org/drawingml/2006/main" noGrp="1"/>
          </p:cNvSpPr>
          <p:nvPr/>
        </p:nvSpPr>
        <p:spPr>
          <a:xfrm xmlns:a="http://schemas.openxmlformats.org/drawingml/2006/main">
            <a:off x="6572250" y="2133600"/>
            <a:ext cx="485775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3F0E6"/>
                </a:solidFill>
                <a:latin typeface="Arial"/>
                <a:ea typeface="Arial"/>
                <a:cs typeface="Arial"/>
              </a:defRPr>
            </a:defPPr>
          </a:lstStyle>
          <a:p xmlns:a="http://schemas.openxmlformats.org/drawingml/2006/main">
            <a:pPr algn="l">
              <a:defRPr sz="1725" b="0">
                <a:solidFill>
                  <a:srgbClr val="F3F0E6"/>
                </a:solidFill>
                <a:latin typeface="Arial"/>
                <a:ea typeface="Arial"/>
                <a:cs typeface="Arial"/>
              </a:defRPr>
            </a:pPr>
            <a:r>
              <a:rPr sz="1725" b="0">
                <a:solidFill>
                  <a:srgbClr val="F3F0E6"/>
                </a:solidFill>
                <a:latin typeface="Arial"/>
                <a:ea typeface="Arial"/>
                <a:cs typeface="Arial"/>
              </a:rPr>
              <a:t>1  Confirm source rights and dates</a:t>
            </a:r>
          </a:p>
          <a:p xmlns:a="http://schemas.openxmlformats.org/drawingml/2006/main">
            <a:pPr algn="l">
              <a:defRPr sz="1725" b="0">
                <a:solidFill>
                  <a:srgbClr val="F3F0E6"/>
                </a:solidFill>
                <a:latin typeface="Arial"/>
                <a:ea typeface="Arial"/>
                <a:cs typeface="Arial"/>
              </a:defRPr>
            </a:pPr>
            <a:r>
              <a:rPr sz="1725" b="0">
                <a:solidFill>
                  <a:srgbClr val="F3F0E6"/>
                </a:solidFill>
                <a:latin typeface="Arial"/>
                <a:ea typeface="Arial"/>
                <a:cs typeface="Arial"/>
              </a:rPr>
              <a:t>2  Field-check the boundary, routes and facilities</a:t>
            </a:r>
          </a:p>
          <a:p xmlns:a="http://schemas.openxmlformats.org/drawingml/2006/main">
            <a:pPr algn="l">
              <a:defRPr sz="1725" b="0">
                <a:solidFill>
                  <a:srgbClr val="F3F0E6"/>
                </a:solidFill>
                <a:latin typeface="Arial"/>
                <a:ea typeface="Arial"/>
                <a:cs typeface="Arial"/>
              </a:defRPr>
            </a:pPr>
            <a:r>
              <a:rPr sz="1725" b="0">
                <a:solidFill>
                  <a:srgbClr val="F3F0E6"/>
                </a:solidFill>
                <a:latin typeface="Arial"/>
                <a:ea typeface="Arial"/>
                <a:cs typeface="Arial"/>
              </a:rPr>
              <a:t>3  Compare a flood model with independent observations</a:t>
            </a:r>
          </a:p>
          <a:p xmlns:a="http://schemas.openxmlformats.org/drawingml/2006/main">
            <a:pPr algn="l">
              <a:defRPr sz="1725" b="0">
                <a:solidFill>
                  <a:srgbClr val="F3F0E6"/>
                </a:solidFill>
                <a:latin typeface="Arial"/>
                <a:ea typeface="Arial"/>
                <a:cs typeface="Arial"/>
              </a:defRPr>
            </a:pPr>
            <a:r>
              <a:rPr sz="1725" b="0">
                <a:solidFill>
                  <a:srgbClr val="F3F0E6"/>
                </a:solidFill>
                <a:latin typeface="Arial"/>
                <a:ea typeface="Arial"/>
                <a:cs typeface="Arial"/>
              </a:rPr>
              <a:t>4  Review results with responsible ward teams</a:t>
            </a:r>
          </a:p>
        </p:txBody>
      </p:sp>
      <p:sp>
        <p:nvSpPr>
          <p:cNvPr id="11" name="test-label">
            <a:extLst xmlns:a="http://schemas.openxmlformats.org/drawingml/2006/main">
              <a:ext uri="{FF2B5EF4-FFF2-40B4-BE49-F238E27FC236}">
                <a16:creationId xmlns:a16="http://schemas.microsoft.com/office/drawing/2014/main" id="{04C9B3E3-0CDE-4A1E-B3F1-C76B3CC956D4}"/>
              </a:ext>
            </a:extLst>
          </p:cNvPr>
          <p:cNvSpPr>
            <a:spLocks xmlns:a="http://schemas.openxmlformats.org/drawingml/2006/main" noGrp="1"/>
          </p:cNvSpPr>
          <p:nvPr/>
        </p:nvSpPr>
        <p:spPr>
          <a:xfrm xmlns:a="http://schemas.openxmlformats.org/drawingml/2006/main">
            <a:off x="609600" y="4933950"/>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E2B85D"/>
                </a:solidFill>
                <a:latin typeface="Arial"/>
                <a:ea typeface="Arial"/>
                <a:cs typeface="Arial"/>
              </a:defRPr>
            </a:defPPr>
          </a:lstStyle>
          <a:p xmlns:a="http://schemas.openxmlformats.org/drawingml/2006/main">
            <a:pPr algn="l">
              <a:defRPr sz="1200" b="1">
                <a:solidFill>
                  <a:srgbClr val="E2B85D"/>
                </a:solidFill>
                <a:latin typeface="Arial"/>
                <a:ea typeface="Arial"/>
                <a:cs typeface="Arial"/>
              </a:defRPr>
            </a:pPr>
            <a:r>
              <a:rPr sz="1200" b="1">
                <a:solidFill>
                  <a:srgbClr val="E2B85D"/>
                </a:solidFill>
                <a:latin typeface="Arial"/>
                <a:ea typeface="Arial"/>
                <a:cs typeface="Arial"/>
              </a:rPr>
              <a:t>TESTS</a:t>
            </a:r>
          </a:p>
        </p:txBody>
      </p:sp>
      <p:sp>
        <p:nvSpPr>
          <p:cNvPr id="12" name="test-summary">
            <a:extLst xmlns:a="http://schemas.openxmlformats.org/drawingml/2006/main">
              <a:ext uri="{FF2B5EF4-FFF2-40B4-BE49-F238E27FC236}">
                <a16:creationId xmlns:a16="http://schemas.microsoft.com/office/drawing/2014/main" id="{95253E46-016C-42D8-974C-AAC3D11C5387}"/>
              </a:ext>
            </a:extLst>
          </p:cNvPr>
          <p:cNvSpPr>
            <a:spLocks xmlns:a="http://schemas.openxmlformats.org/drawingml/2006/main" noGrp="1"/>
          </p:cNvSpPr>
          <p:nvPr/>
        </p:nvSpPr>
        <p:spPr>
          <a:xfrm xmlns:a="http://schemas.openxmlformats.org/drawingml/2006/main">
            <a:off x="1666875" y="4876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87B49C"/>
                </a:solidFill>
                <a:latin typeface="Arial"/>
                <a:ea typeface="Arial"/>
                <a:cs typeface="Arial"/>
              </a:defRPr>
            </a:defPPr>
          </a:lstStyle>
          <a:p xmlns:a="http://schemas.openxmlformats.org/drawingml/2006/main">
            <a:pPr algn="l">
              <a:defRPr sz="1575" b="1">
                <a:solidFill>
                  <a:srgbClr val="87B49C"/>
                </a:solidFill>
                <a:latin typeface="Arial"/>
                <a:ea typeface="Arial"/>
                <a:cs typeface="Arial"/>
              </a:defRPr>
            </a:pPr>
            <a:r>
              <a:rPr sz="1575" b="1">
                <a:solidFill>
                  <a:srgbClr val="87B49C"/>
                </a:solidFill>
                <a:latin typeface="Arial"/>
                <a:ea typeface="Arial"/>
                <a:cs typeface="Arial"/>
              </a:rPr>
              <a:t>10 backend workflow tests pass · production API smoke checks pass · Vercel production build ready</a:t>
            </a:r>
          </a:p>
        </p:txBody>
      </p:sp>
      <p:sp>
        <p:nvSpPr>
          <p:cNvPr id="13" name="not-ready">
            <a:extLst xmlns:a="http://schemas.openxmlformats.org/drawingml/2006/main">
              <a:ext uri="{FF2B5EF4-FFF2-40B4-BE49-F238E27FC236}">
                <a16:creationId xmlns:a16="http://schemas.microsoft.com/office/drawing/2014/main" id="{102A77A2-EE69-4D6E-931F-2BCA0C30F94A}"/>
              </a:ext>
            </a:extLst>
          </p:cNvPr>
          <p:cNvSpPr>
            <a:spLocks xmlns:a="http://schemas.openxmlformats.org/drawingml/2006/main" noGrp="1"/>
          </p:cNvSpPr>
          <p:nvPr/>
        </p:nvSpPr>
        <p:spPr>
          <a:xfrm xmlns:a="http://schemas.openxmlformats.org/drawingml/2006/main">
            <a:off x="609600" y="5734050"/>
            <a:ext cx="1062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D88B79"/>
                </a:solidFill>
                <a:latin typeface="Arial"/>
                <a:ea typeface="Arial"/>
                <a:cs typeface="Arial"/>
              </a:defRPr>
            </a:defPPr>
          </a:lstStyle>
          <a:p xmlns:a="http://schemas.openxmlformats.org/drawingml/2006/main">
            <a:pPr algn="l">
              <a:defRPr sz="1275" b="1">
                <a:solidFill>
                  <a:srgbClr val="D88B79"/>
                </a:solidFill>
                <a:latin typeface="Arial"/>
                <a:ea typeface="Arial"/>
                <a:cs typeface="Arial"/>
              </a:defRPr>
            </a:pPr>
            <a:r>
              <a:rPr sz="1275" b="1">
                <a:solidFill>
                  <a:srgbClr val="D88B79"/>
                </a:solidFill>
                <a:latin typeface="Arial"/>
                <a:ea typeface="Arial"/>
                <a:cs typeface="Arial"/>
              </a:rPr>
              <a:t>No calibrated hydraulic flood model or independent flood validation is implemented.</a:t>
            </a:r>
          </a:p>
        </p:txBody>
      </p:sp>
    </p:spTree>
    <p:extLst>
      <p:ext uri="{BB962C8B-B14F-4D97-AF65-F5344CB8AC3E}">
        <p14:creationId xmlns:p14="http://schemas.microsoft.com/office/powerpoint/2010/main" val="328878288"/>
      </p:ext>
    </p:extLst>
  </p:cSld>
</p:sld>
</file>

<file path=ppt/slides/slide7.xml><?xml version="1.0" encoding="utf-8"?>
<p:sld xmlns:p="http://schemas.openxmlformats.org/presentationml/2006/main">
  <p:cSld>
    <p:bg>
      <p:bgPr>
        <a:solidFill xmlns:a="http://schemas.openxmlformats.org/drawingml/2006/main">
          <a:srgbClr val="101B1F"/>
        </a:solidFill>
      </p:bgPr>
    </p:bg>
    <p:spTree>
      <p:nvGrpSpPr>
        <p:cNvPr id="1" name=""/>
        <p:cNvGrpSpPr/>
        <p:nvPr/>
      </p:nvGrpSpPr>
      <p:grpSpPr>
        <a:xfrm xmlns:a="http://schemas.openxmlformats.org/drawingml/2006/main"/>
      </p:grpSpPr>
      <p:sp>
        <p:nvSpPr>
          <p:cNvPr id="13" name="kicker-7">
            <a:extLst xmlns:a="http://schemas.openxmlformats.org/drawingml/2006/main">
              <a:ext uri="{FF2B5EF4-FFF2-40B4-BE49-F238E27FC236}">
                <a16:creationId xmlns:a16="http://schemas.microsoft.com/office/drawing/2014/main" id="{550E14AF-69A1-45C3-8AEE-4F9D283B6A98}"/>
              </a:ext>
            </a:extLst>
          </p:cNvPr>
          <p:cNvSpPr>
            <a:spLocks xmlns:a="http://schemas.openxmlformats.org/drawingml/2006/main" noGrp="1"/>
          </p:cNvSpPr>
          <p:nvPr/>
        </p:nvSpPr>
        <p:spPr>
          <a:xfrm xmlns:a="http://schemas.openxmlformats.org/drawingml/2006/main">
            <a:off x="609600" y="400050"/>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2B85D"/>
                </a:solidFill>
                <a:latin typeface="Arial"/>
                <a:ea typeface="Arial"/>
                <a:cs typeface="Arial"/>
              </a:defRPr>
            </a:defPPr>
          </a:lstStyle>
          <a:p xmlns:a="http://schemas.openxmlformats.org/drawingml/2006/main">
            <a:pPr algn="l">
              <a:defRPr sz="1125" b="1">
                <a:solidFill>
                  <a:srgbClr val="E2B85D"/>
                </a:solidFill>
                <a:latin typeface="Arial"/>
                <a:ea typeface="Arial"/>
                <a:cs typeface="Arial"/>
              </a:defRPr>
            </a:pPr>
            <a:r>
              <a:rPr sz="1125" b="1">
                <a:solidFill>
                  <a:srgbClr val="E2B85D"/>
                </a:solidFill>
                <a:latin typeface="Arial"/>
                <a:ea typeface="Arial"/>
                <a:cs typeface="Arial"/>
              </a:rPr>
              <a:t>IMPLEMENTATION AND DISCLOSURE</a:t>
            </a:r>
          </a:p>
        </p:txBody>
      </p:sp>
      <p:sp>
        <p:nvSpPr>
          <p:cNvPr id="2" name="title-7">
            <a:extLst xmlns:a="http://schemas.openxmlformats.org/drawingml/2006/main">
              <a:ext uri="{FF2B5EF4-FFF2-40B4-BE49-F238E27FC236}">
                <a16:creationId xmlns:a16="http://schemas.microsoft.com/office/drawing/2014/main" id="{03A36811-4915-477F-99CD-10C5700FA6DB}"/>
              </a:ext>
            </a:extLst>
          </p:cNvPr>
          <p:cNvSpPr>
            <a:spLocks xmlns:a="http://schemas.openxmlformats.org/drawingml/2006/main" noGrp="1"/>
          </p:cNvSpPr>
          <p:nvPr/>
        </p:nvSpPr>
        <p:spPr>
          <a:xfrm xmlns:a="http://schemas.openxmlformats.org/drawingml/2006/main">
            <a:off x="609600" y="7429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F3F0E6"/>
                </a:solidFill>
                <a:latin typeface="Arial"/>
                <a:ea typeface="Arial"/>
                <a:cs typeface="Arial"/>
              </a:defRPr>
            </a:defPPr>
          </a:lstStyle>
          <a:p xmlns:a="http://schemas.openxmlformats.org/drawingml/2006/main">
            <a:pPr algn="l">
              <a:defRPr sz="4050" b="1">
                <a:solidFill>
                  <a:srgbClr val="F3F0E6"/>
                </a:solidFill>
                <a:latin typeface="Arial"/>
                <a:ea typeface="Arial"/>
                <a:cs typeface="Arial"/>
              </a:defRPr>
            </a:pPr>
            <a:r>
              <a:rPr sz="4050" b="1">
                <a:solidFill>
                  <a:srgbClr val="F3F0E6"/>
                </a:solidFill>
                <a:latin typeface="Arial"/>
                <a:ea typeface="Arial"/>
                <a:cs typeface="Arial"/>
              </a:rPr>
              <a:t>Team, AI use and safeguards</a:t>
            </a:r>
          </a:p>
        </p:txBody>
      </p:sp>
      <p:sp>
        <p:nvSpPr>
          <p:cNvPr id="3" name="footer-rule-7">
            <a:extLst xmlns:a="http://schemas.openxmlformats.org/drawingml/2006/main">
              <a:ext uri="{FF2B5EF4-FFF2-40B4-BE49-F238E27FC236}">
                <a16:creationId xmlns:a16="http://schemas.microsoft.com/office/drawing/2014/main" id="{DF5CF807-12F6-4B99-8F25-DE319D686CD6}"/>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4" name="footer-name-7">
            <a:extLst xmlns:a="http://schemas.openxmlformats.org/drawingml/2006/main">
              <a:ext uri="{FF2B5EF4-FFF2-40B4-BE49-F238E27FC236}">
                <a16:creationId xmlns:a16="http://schemas.microsoft.com/office/drawing/2014/main" id="{9BCAE0BD-765E-4824-A7FF-1E59C9601C6E}"/>
              </a:ext>
            </a:extLst>
          </p:cNvPr>
          <p:cNvSpPr>
            <a:spLocks xmlns:a="http://schemas.openxmlformats.org/drawingml/2006/main" noGrp="1"/>
          </p:cNvSpPr>
          <p:nvPr/>
        </p:nvSpPr>
        <p:spPr>
          <a:xfrm xmlns:a="http://schemas.openxmlformats.org/drawingml/2006/main">
            <a:off x="609600" y="6496050"/>
            <a:ext cx="628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A7B2AD"/>
                </a:solidFill>
                <a:latin typeface="Arial"/>
                <a:ea typeface="Arial"/>
                <a:cs typeface="Arial"/>
              </a:defRPr>
            </a:defPPr>
          </a:lstStyle>
          <a:p xmlns:a="http://schemas.openxmlformats.org/drawingml/2006/main">
            <a:pPr algn="l">
              <a:defRPr sz="975" b="1">
                <a:solidFill>
                  <a:srgbClr val="A7B2AD"/>
                </a:solidFill>
                <a:latin typeface="Arial"/>
                <a:ea typeface="Arial"/>
                <a:cs typeface="Arial"/>
              </a:defRPr>
            </a:pPr>
            <a:r>
              <a:rPr sz="975" b="1">
                <a:solidFill>
                  <a:srgbClr val="A7B2AD"/>
                </a:solidFill>
                <a:latin typeface="Arial"/>
                <a:ea typeface="Arial"/>
                <a:cs typeface="Arial"/>
              </a:rPr>
              <a:t>BHARAT YANTRA  ·  MUMBAI F/S WARD</a:t>
            </a:r>
          </a:p>
        </p:txBody>
      </p:sp>
      <p:sp>
        <p:nvSpPr>
          <p:cNvPr id="5" name="footer-page-7">
            <a:extLst xmlns:a="http://schemas.openxmlformats.org/drawingml/2006/main">
              <a:ext uri="{FF2B5EF4-FFF2-40B4-BE49-F238E27FC236}">
                <a16:creationId xmlns:a16="http://schemas.microsoft.com/office/drawing/2014/main" id="{1607E01F-BC7A-4057-9B9B-D61D6BD274AD}"/>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E2B85D"/>
                </a:solidFill>
                <a:latin typeface="Arial"/>
                <a:ea typeface="Arial"/>
                <a:cs typeface="Arial"/>
              </a:defRPr>
            </a:defPPr>
          </a:lstStyle>
          <a:p xmlns:a="http://schemas.openxmlformats.org/drawingml/2006/main">
            <a:pPr algn="r">
              <a:defRPr sz="975" b="1">
                <a:solidFill>
                  <a:srgbClr val="E2B85D"/>
                </a:solidFill>
                <a:latin typeface="Arial"/>
                <a:ea typeface="Arial"/>
                <a:cs typeface="Arial"/>
              </a:defRPr>
            </a:pPr>
            <a:r>
              <a:rPr sz="975" b="1">
                <a:solidFill>
                  <a:srgbClr val="E2B85D"/>
                </a:solidFill>
                <a:latin typeface="Arial"/>
                <a:ea typeface="Arial"/>
                <a:cs typeface="Arial"/>
              </a:rPr>
              <a:t>07 / 07</a:t>
            </a:r>
          </a:p>
        </p:txBody>
      </p:sp>
      <p:sp>
        <p:nvSpPr>
          <p:cNvPr id="6" name="team-label">
            <a:extLst xmlns:a="http://schemas.openxmlformats.org/drawingml/2006/main">
              <a:ext uri="{FF2B5EF4-FFF2-40B4-BE49-F238E27FC236}">
                <a16:creationId xmlns:a16="http://schemas.microsoft.com/office/drawing/2014/main" id="{1CE6227A-1A9F-4336-A3A7-6945AE63659D}"/>
              </a:ext>
            </a:extLst>
          </p:cNvPr>
          <p:cNvSpPr>
            <a:spLocks xmlns:a="http://schemas.openxmlformats.org/drawingml/2006/main" noGrp="1"/>
          </p:cNvSpPr>
          <p:nvPr/>
        </p:nvSpPr>
        <p:spPr>
          <a:xfrm xmlns:a="http://schemas.openxmlformats.org/drawingml/2006/main">
            <a:off x="609600" y="1714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E2B85D"/>
                </a:solidFill>
                <a:latin typeface="Arial"/>
                <a:ea typeface="Arial"/>
                <a:cs typeface="Arial"/>
              </a:defRPr>
            </a:defPPr>
          </a:lstStyle>
          <a:p xmlns:a="http://schemas.openxmlformats.org/drawingml/2006/main">
            <a:pPr algn="l">
              <a:defRPr sz="1275" b="1">
                <a:solidFill>
                  <a:srgbClr val="E2B85D"/>
                </a:solidFill>
                <a:latin typeface="Arial"/>
                <a:ea typeface="Arial"/>
                <a:cs typeface="Arial"/>
              </a:defRPr>
            </a:pPr>
            <a:r>
              <a:rPr sz="1275" b="1">
                <a:solidFill>
                  <a:srgbClr val="E2B85D"/>
                </a:solidFill>
                <a:latin typeface="Arial"/>
                <a:ea typeface="Arial"/>
                <a:cs typeface="Arial"/>
              </a:rPr>
              <a:t>TEAM</a:t>
            </a:r>
          </a:p>
        </p:txBody>
      </p:sp>
      <p:sp>
        <p:nvSpPr>
          <p:cNvPr id="7" name="team-copy">
            <a:extLst xmlns:a="http://schemas.openxmlformats.org/drawingml/2006/main">
              <a:ext uri="{FF2B5EF4-FFF2-40B4-BE49-F238E27FC236}">
                <a16:creationId xmlns:a16="http://schemas.microsoft.com/office/drawing/2014/main" id="{22E33071-A5A6-465F-B6D2-D35A3EF3391D}"/>
              </a:ext>
            </a:extLst>
          </p:cNvPr>
          <p:cNvSpPr>
            <a:spLocks xmlns:a="http://schemas.openxmlformats.org/drawingml/2006/main" noGrp="1"/>
          </p:cNvSpPr>
          <p:nvPr/>
        </p:nvSpPr>
        <p:spPr>
          <a:xfrm xmlns:a="http://schemas.openxmlformats.org/drawingml/2006/main">
            <a:off x="609600" y="2171700"/>
            <a:ext cx="4762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3F0E6"/>
                </a:solidFill>
                <a:latin typeface="Arial"/>
                <a:ea typeface="Arial"/>
                <a:cs typeface="Arial"/>
              </a:defRPr>
            </a:defPPr>
          </a:lstStyle>
          <a:p xmlns:a="http://schemas.openxmlformats.org/drawingml/2006/main">
            <a:pPr algn="l">
              <a:defRPr sz="1725" b="0">
                <a:solidFill>
                  <a:srgbClr val="F3F0E6"/>
                </a:solidFill>
                <a:latin typeface="Arial"/>
                <a:ea typeface="Arial"/>
                <a:cs typeface="Arial"/>
              </a:defRPr>
            </a:pPr>
            <a:r>
              <a:rPr sz="1725" b="0">
                <a:solidFill>
                  <a:srgbClr val="F3F0E6"/>
                </a:solidFill>
                <a:latin typeface="Arial"/>
                <a:ea typeface="Arial"/>
                <a:cs typeface="Arial"/>
              </a:rPr>
              <a:t>List every registered member and role here, matching Annexure 1.</a:t>
            </a:r>
          </a:p>
          <a:p xmlns:a="http://schemas.openxmlformats.org/drawingml/2006/main">
            <a:r>
              <a:t/>
            </a:r>
          </a:p>
          <a:p xmlns:a="http://schemas.openxmlformats.org/drawingml/2006/main">
            <a:pPr algn="l">
              <a:defRPr sz="1725" b="0">
                <a:solidFill>
                  <a:srgbClr val="F3F0E6"/>
                </a:solidFill>
                <a:latin typeface="Arial"/>
                <a:ea typeface="Arial"/>
                <a:cs typeface="Arial"/>
              </a:defRPr>
            </a:pPr>
            <a:r>
              <a:rPr sz="1725" b="0">
                <a:solidFill>
                  <a:srgbClr val="F3F0E6"/>
                </a:solidFill>
                <a:latin typeface="Arial"/>
                <a:ea typeface="Arial"/>
                <a:cs typeface="Arial"/>
              </a:rPr>
              <a:t>Planned responsibilities: product direction · software and GIS · public-impact review.</a:t>
            </a:r>
          </a:p>
        </p:txBody>
      </p:sp>
      <p:sp>
        <p:nvSpPr>
          <p:cNvPr id="8" name="ai-label">
            <a:extLst xmlns:a="http://schemas.openxmlformats.org/drawingml/2006/main">
              <a:ext uri="{FF2B5EF4-FFF2-40B4-BE49-F238E27FC236}">
                <a16:creationId xmlns:a16="http://schemas.microsoft.com/office/drawing/2014/main" id="{025EB6F3-2B0C-4E2B-8DA4-167119E62688}"/>
              </a:ext>
            </a:extLst>
          </p:cNvPr>
          <p:cNvSpPr>
            <a:spLocks xmlns:a="http://schemas.openxmlformats.org/drawingml/2006/main" noGrp="1"/>
          </p:cNvSpPr>
          <p:nvPr/>
        </p:nvSpPr>
        <p:spPr>
          <a:xfrm xmlns:a="http://schemas.openxmlformats.org/drawingml/2006/main">
            <a:off x="6076950" y="17145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E2B85D"/>
                </a:solidFill>
                <a:latin typeface="Arial"/>
                <a:ea typeface="Arial"/>
                <a:cs typeface="Arial"/>
              </a:defRPr>
            </a:defPPr>
          </a:lstStyle>
          <a:p xmlns:a="http://schemas.openxmlformats.org/drawingml/2006/main">
            <a:pPr algn="l">
              <a:defRPr sz="1275" b="1">
                <a:solidFill>
                  <a:srgbClr val="E2B85D"/>
                </a:solidFill>
                <a:latin typeface="Arial"/>
                <a:ea typeface="Arial"/>
                <a:cs typeface="Arial"/>
              </a:defRPr>
            </a:pPr>
            <a:r>
              <a:rPr sz="1275" b="1">
                <a:solidFill>
                  <a:srgbClr val="E2B85D"/>
                </a:solidFill>
                <a:latin typeface="Arial"/>
                <a:ea typeface="Arial"/>
                <a:cs typeface="Arial"/>
              </a:rPr>
              <a:t>AI TOOL DISCLOSURE</a:t>
            </a:r>
          </a:p>
        </p:txBody>
      </p:sp>
      <p:sp>
        <p:nvSpPr>
          <p:cNvPr id="9" name="ai-copy">
            <a:extLst xmlns:a="http://schemas.openxmlformats.org/drawingml/2006/main">
              <a:ext uri="{FF2B5EF4-FFF2-40B4-BE49-F238E27FC236}">
                <a16:creationId xmlns:a16="http://schemas.microsoft.com/office/drawing/2014/main" id="{D6FE64AF-90D2-495B-B6A7-3C53516CD22B}"/>
              </a:ext>
            </a:extLst>
          </p:cNvPr>
          <p:cNvSpPr>
            <a:spLocks xmlns:a="http://schemas.openxmlformats.org/drawingml/2006/main" noGrp="1"/>
          </p:cNvSpPr>
          <p:nvPr/>
        </p:nvSpPr>
        <p:spPr>
          <a:xfrm xmlns:a="http://schemas.openxmlformats.org/drawingml/2006/main">
            <a:off x="6076950" y="2171700"/>
            <a:ext cx="5334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F3F0E6"/>
                </a:solidFill>
                <a:latin typeface="Arial"/>
                <a:ea typeface="Arial"/>
                <a:cs typeface="Arial"/>
              </a:defRPr>
            </a:defPPr>
          </a:lstStyle>
          <a:p xmlns:a="http://schemas.openxmlformats.org/drawingml/2006/main">
            <a:pPr algn="l">
              <a:defRPr sz="1575" b="0">
                <a:solidFill>
                  <a:srgbClr val="F3F0E6"/>
                </a:solidFill>
                <a:latin typeface="Arial"/>
                <a:ea typeface="Arial"/>
                <a:cs typeface="Arial"/>
              </a:defRPr>
            </a:pPr>
            <a:r>
              <a:rPr sz="1575" b="0">
                <a:solidFill>
                  <a:srgbClr val="F3F0E6"/>
                </a:solidFill>
                <a:latin typeface="Arial"/>
                <a:ea typeface="Arial"/>
                <a:cs typeface="Arial"/>
              </a:rPr>
              <a:t>AI tools assisted with coding, debugging, documentation and this deck.</a:t>
            </a:r>
          </a:p>
          <a:p xmlns:a="http://schemas.openxmlformats.org/drawingml/2006/main">
            <a:r>
              <a:t/>
            </a:r>
          </a:p>
          <a:p xmlns:a="http://schemas.openxmlformats.org/drawingml/2006/main">
            <a:pPr algn="l">
              <a:defRPr sz="1575" b="0">
                <a:solidFill>
                  <a:srgbClr val="F3F0E6"/>
                </a:solidFill>
                <a:latin typeface="Arial"/>
                <a:ea typeface="Arial"/>
                <a:cs typeface="Arial"/>
              </a:defRPr>
            </a:pPr>
            <a:r>
              <a:rPr sz="1575" b="0">
                <a:solidFill>
                  <a:srgbClr val="F3F0E6"/>
                </a:solidFill>
                <a:latin typeface="Arial"/>
                <a:ea typeface="Arial"/>
                <a:cs typeface="Arial"/>
              </a:rPr>
              <a:t>AI-use percentage: team must estimate and confirm before submission.</a:t>
            </a:r>
          </a:p>
          <a:p xmlns:a="http://schemas.openxmlformats.org/drawingml/2006/main">
            <a:r>
              <a:t/>
            </a:r>
          </a:p>
          <a:p xmlns:a="http://schemas.openxmlformats.org/drawingml/2006/main">
            <a:pPr algn="l">
              <a:defRPr sz="1575" b="0">
                <a:solidFill>
                  <a:srgbClr val="F3F0E6"/>
                </a:solidFill>
                <a:latin typeface="Arial"/>
                <a:ea typeface="Arial"/>
                <a:cs typeface="Arial"/>
              </a:defRPr>
            </a:pPr>
            <a:r>
              <a:rPr sz="1575" b="0">
                <a:solidFill>
                  <a:srgbClr val="F3F0E6"/>
                </a:solidFill>
                <a:latin typeface="Arial"/>
                <a:ea typeface="Arial"/>
                <a:cs typeface="Arial"/>
              </a:rPr>
              <a:t>No model was trained on ward data. The hosted generative assistant is disabled.</a:t>
            </a:r>
          </a:p>
        </p:txBody>
      </p:sp>
      <p:sp>
        <p:nvSpPr>
          <p:cNvPr id="10" name="guardrail-rule">
            <a:extLst xmlns:a="http://schemas.openxmlformats.org/drawingml/2006/main">
              <a:ext uri="{FF2B5EF4-FFF2-40B4-BE49-F238E27FC236}">
                <a16:creationId xmlns:a16="http://schemas.microsoft.com/office/drawing/2014/main" id="{C5C61840-762F-41E1-B8B8-34DB54E7BD65}"/>
              </a:ext>
            </a:extLst>
          </p:cNvPr>
          <p:cNvSpPr>
            <a:spLocks xmlns:a="http://schemas.openxmlformats.org/drawingml/2006/main" noGrp="1"/>
          </p:cNvSpPr>
          <p:nvPr/>
        </p:nvSpPr>
        <p:spPr>
          <a:xfrm xmlns:a="http://schemas.openxmlformats.org/drawingml/2006/main">
            <a:off x="609600" y="4857750"/>
            <a:ext cx="10934700" cy="19050"/>
          </a:xfrm>
          <a:prstGeom xmlns:a="http://schemas.openxmlformats.org/drawingml/2006/main" prst="rect">
            <a:avLst/>
          </a:prstGeom>
          <a:solidFill xmlns:a="http://schemas.openxmlformats.org/drawingml/2006/main">
            <a:srgbClr val="395057"/>
          </a:solidFill>
          <a:ln xmlns:a="http://schemas.openxmlformats.org/drawingml/2006/main" w="0">
            <a:noFill/>
            <a:prstDash val="solid"/>
          </a:ln>
        </p:spPr>
      </p:sp>
      <p:sp>
        <p:nvSpPr>
          <p:cNvPr id="11" name="guardrail-copy">
            <a:extLst xmlns:a="http://schemas.openxmlformats.org/drawingml/2006/main">
              <a:ext uri="{FF2B5EF4-FFF2-40B4-BE49-F238E27FC236}">
                <a16:creationId xmlns:a16="http://schemas.microsoft.com/office/drawing/2014/main" id="{00DED3E1-207A-44D3-A28B-A9E3BAECD9FA}"/>
              </a:ext>
            </a:extLst>
          </p:cNvPr>
          <p:cNvSpPr>
            <a:spLocks xmlns:a="http://schemas.openxmlformats.org/drawingml/2006/main" noGrp="1"/>
          </p:cNvSpPr>
          <p:nvPr/>
        </p:nvSpPr>
        <p:spPr>
          <a:xfrm xmlns:a="http://schemas.openxmlformats.org/drawingml/2006/main">
            <a:off x="609600" y="5143500"/>
            <a:ext cx="1076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D88B79"/>
                </a:solidFill>
                <a:latin typeface="Arial"/>
                <a:ea typeface="Arial"/>
                <a:cs typeface="Arial"/>
              </a:defRPr>
            </a:defPPr>
          </a:lstStyle>
          <a:p xmlns:a="http://schemas.openxmlformats.org/drawingml/2006/main">
            <a:pPr algn="l">
              <a:defRPr sz="1500" b="1">
                <a:solidFill>
                  <a:srgbClr val="D88B79"/>
                </a:solidFill>
                <a:latin typeface="Arial"/>
                <a:ea typeface="Arial"/>
                <a:cs typeface="Arial"/>
              </a:defRPr>
            </a:pPr>
            <a:r>
              <a:rPr sz="1500" b="1">
                <a:solidFill>
                  <a:srgbClr val="D88B79"/>
                </a:solidFill>
                <a:latin typeface="Arial"/>
                <a:ea typeface="Arial"/>
                <a:cs typeface="Arial"/>
              </a:rPr>
              <a:t>Planning prototype only · no flood forecast · no live closure status · no confirmed shelter capacity · no official recommendation</a:t>
            </a:r>
          </a:p>
        </p:txBody>
      </p:sp>
      <p:sp>
        <p:nvSpPr>
          <p:cNvPr id="12" name="closing">
            <a:extLst xmlns:a="http://schemas.openxmlformats.org/drawingml/2006/main">
              <a:ext uri="{FF2B5EF4-FFF2-40B4-BE49-F238E27FC236}">
                <a16:creationId xmlns:a16="http://schemas.microsoft.com/office/drawing/2014/main" id="{92E718D4-D653-4722-83E4-8C17CFEDE631}"/>
              </a:ext>
            </a:extLst>
          </p:cNvPr>
          <p:cNvSpPr>
            <a:spLocks xmlns:a="http://schemas.openxmlformats.org/drawingml/2006/main" noGrp="1"/>
          </p:cNvSpPr>
          <p:nvPr/>
        </p:nvSpPr>
        <p:spPr>
          <a:xfrm xmlns:a="http://schemas.openxmlformats.org/drawingml/2006/main">
            <a:off x="609600" y="588645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87B49C"/>
                </a:solidFill>
                <a:latin typeface="Arial"/>
                <a:ea typeface="Arial"/>
                <a:cs typeface="Arial"/>
              </a:defRPr>
            </a:defPPr>
          </a:lstStyle>
          <a:p xmlns:a="http://schemas.openxmlformats.org/drawingml/2006/main">
            <a:pPr algn="l">
              <a:defRPr sz="1425" b="1">
                <a:solidFill>
                  <a:srgbClr val="87B49C"/>
                </a:solidFill>
                <a:latin typeface="Arial"/>
                <a:ea typeface="Arial"/>
                <a:cs typeface="Arial"/>
              </a:defRPr>
            </a:pPr>
            <a:r>
              <a:rPr sz="1425" b="1">
                <a:solidFill>
                  <a:srgbClr val="87B49C"/>
                </a:solidFill>
                <a:latin typeface="Arial"/>
                <a:ea typeface="Arial"/>
                <a:cs typeface="Arial"/>
              </a:rPr>
              <a:t>Test the live prototype  ·  bharat-yantra.vercel.app</a:t>
            </a:r>
          </a:p>
        </p:txBody>
      </p:sp>
    </p:spTree>
    <p:extLst>
      <p:ext uri="{BB962C8B-B14F-4D97-AF65-F5344CB8AC3E}">
        <p14:creationId xmlns:p14="http://schemas.microsoft.com/office/powerpoint/2010/main" val="44820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2026-10-11T05:29:34.0830000Z</dcterms:created>
  <dcterms:modified xsi:type="dcterms:W3CDTF">2026-10-11T05:29:34.0830000Z</dcterms:modified>
</coreProperties>
</file>